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4" r:id="rId8"/>
    <p:sldId id="265" r:id="rId9"/>
    <p:sldId id="266" r:id="rId10"/>
    <p:sldId id="263" r:id="rId11"/>
    <p:sldId id="267" r:id="rId12"/>
    <p:sldId id="262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5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8E"/>
    <a:srgbClr val="98D4CE"/>
    <a:srgbClr val="DFF1F1"/>
    <a:srgbClr val="B4533C"/>
    <a:srgbClr val="FCE99A"/>
    <a:srgbClr val="FFFA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4" d="100"/>
          <a:sy n="84" d="100"/>
        </p:scale>
        <p:origin x="629" y="72"/>
      </p:cViewPr>
      <p:guideLst>
        <p:guide orient="horz" pos="2857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0F4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57536" y="561664"/>
            <a:ext cx="7486650" cy="628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94688" y="1560688"/>
              <a:ext cx="5297310" cy="5297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7086599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49299" y="1025924"/>
            <a:ext cx="147002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dirty="0">
                <a:solidFill>
                  <a:srgbClr val="2DD4B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650" b="1" spc="-90" dirty="0">
                <a:solidFill>
                  <a:srgbClr val="2DD4B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b="1" spc="-80" dirty="0">
                <a:solidFill>
                  <a:srgbClr val="2DD4BE"/>
                </a:solidFill>
                <a:latin typeface="Arial" panose="020B0604020202020204"/>
                <a:cs typeface="Arial" panose="020B0604020202020204"/>
              </a:rPr>
              <a:t>PROBLEM</a:t>
            </a:r>
            <a:endParaRPr sz="1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49299" y="1296987"/>
            <a:ext cx="7788275" cy="12293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500"/>
              </a:lnSpc>
              <a:spcBef>
                <a:spcPts val="660"/>
              </a:spcBef>
            </a:pPr>
            <a:r>
              <a:rPr sz="4050" spc="-185" dirty="0"/>
              <a:t>When</a:t>
            </a:r>
            <a:r>
              <a:rPr sz="4050" spc="-254" dirty="0"/>
              <a:t> </a:t>
            </a:r>
            <a:r>
              <a:rPr sz="4150" spc="55" dirty="0">
                <a:solidFill>
                  <a:srgbClr val="F77070"/>
                </a:solidFill>
              </a:rPr>
              <a:t>₹</a:t>
            </a:r>
            <a:r>
              <a:rPr spc="55" dirty="0">
                <a:solidFill>
                  <a:srgbClr val="F77070"/>
                </a:solidFill>
              </a:rPr>
              <a:t>500</a:t>
            </a:r>
            <a:r>
              <a:rPr spc="-225" dirty="0">
                <a:solidFill>
                  <a:srgbClr val="F77070"/>
                </a:solidFill>
              </a:rPr>
              <a:t> </a:t>
            </a:r>
            <a:r>
              <a:rPr sz="4050" spc="-130" dirty="0"/>
              <a:t>feels</a:t>
            </a:r>
            <a:r>
              <a:rPr sz="4050" spc="-254" dirty="0"/>
              <a:t> </a:t>
            </a:r>
            <a:r>
              <a:rPr sz="4050" spc="-180" dirty="0"/>
              <a:t>like</a:t>
            </a:r>
            <a:r>
              <a:rPr sz="4050" spc="-254" dirty="0"/>
              <a:t> </a:t>
            </a:r>
            <a:r>
              <a:rPr sz="4050" spc="-180" dirty="0"/>
              <a:t>a</a:t>
            </a:r>
            <a:r>
              <a:rPr sz="4050" spc="-254" dirty="0"/>
              <a:t> </a:t>
            </a:r>
            <a:r>
              <a:rPr sz="4050" spc="-125" dirty="0"/>
              <a:t>risk</a:t>
            </a:r>
            <a:r>
              <a:rPr spc="-125" dirty="0"/>
              <a:t>,</a:t>
            </a:r>
            <a:r>
              <a:rPr spc="-340" dirty="0"/>
              <a:t> </a:t>
            </a:r>
            <a:r>
              <a:rPr sz="4050" spc="-150" dirty="0"/>
              <a:t>people </a:t>
            </a:r>
            <a:r>
              <a:rPr sz="4050" spc="-210" dirty="0"/>
              <a:t>gamble</a:t>
            </a:r>
            <a:r>
              <a:rPr sz="4050" spc="-245" dirty="0"/>
              <a:t> </a:t>
            </a:r>
            <a:r>
              <a:rPr sz="4050" spc="-140" dirty="0"/>
              <a:t>with</a:t>
            </a:r>
            <a:r>
              <a:rPr sz="4050" spc="-240" dirty="0"/>
              <a:t> </a:t>
            </a:r>
            <a:r>
              <a:rPr sz="4050" spc="-140" dirty="0"/>
              <a:t>their</a:t>
            </a:r>
            <a:r>
              <a:rPr sz="4050" spc="-240" dirty="0"/>
              <a:t> </a:t>
            </a:r>
            <a:r>
              <a:rPr sz="4050" spc="-10" dirty="0"/>
              <a:t>health</a:t>
            </a:r>
            <a:r>
              <a:rPr spc="-10" dirty="0"/>
              <a:t>.</a:t>
            </a:r>
            <a:endParaRPr sz="4050"/>
          </a:p>
        </p:txBody>
      </p:sp>
      <p:sp>
        <p:nvSpPr>
          <p:cNvPr id="8" name="object 8"/>
          <p:cNvSpPr txBox="1"/>
          <p:nvPr/>
        </p:nvSpPr>
        <p:spPr>
          <a:xfrm>
            <a:off x="749299" y="2729309"/>
            <a:ext cx="6444615" cy="556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sz="1650" spc="-5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Low</a:t>
            </a:r>
            <a:r>
              <a:rPr sz="1700" spc="-50" dirty="0">
                <a:solidFill>
                  <a:srgbClr val="D0D5DA"/>
                </a:solidFill>
                <a:latin typeface="Roboto Lt"/>
                <a:cs typeface="Roboto Lt"/>
              </a:rPr>
              <a:t>-</a:t>
            </a:r>
            <a:r>
              <a:rPr sz="1650" spc="-3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income</a:t>
            </a:r>
            <a:r>
              <a:rPr sz="1650" spc="-6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650" spc="-3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families</a:t>
            </a:r>
            <a:r>
              <a:rPr sz="1650" spc="-5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650" spc="-2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skip</a:t>
            </a:r>
            <a:r>
              <a:rPr sz="1650" spc="-5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650" spc="-2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early</a:t>
            </a:r>
            <a:r>
              <a:rPr sz="1650" spc="-5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650" spc="-4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diagnosis</a:t>
            </a:r>
            <a:r>
              <a:rPr sz="1650" spc="-5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700" spc="110" dirty="0">
                <a:solidFill>
                  <a:srgbClr val="D0D5DA"/>
                </a:solidFill>
                <a:latin typeface="Roboto Lt"/>
                <a:cs typeface="Roboto Lt"/>
              </a:rPr>
              <a:t>—</a:t>
            </a:r>
            <a:r>
              <a:rPr sz="1700" spc="-45" dirty="0">
                <a:solidFill>
                  <a:srgbClr val="D0D5DA"/>
                </a:solidFill>
                <a:latin typeface="Roboto Lt"/>
                <a:cs typeface="Roboto Lt"/>
              </a:rPr>
              <a:t> </a:t>
            </a:r>
            <a:r>
              <a:rPr sz="1650" spc="-4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1650" spc="-5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650" spc="-2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minor</a:t>
            </a:r>
            <a:r>
              <a:rPr sz="1650" spc="-5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650" spc="-4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illnesses</a:t>
            </a:r>
            <a:r>
              <a:rPr sz="1650" spc="-5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650" spc="-1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become emergencies</a:t>
            </a:r>
            <a:r>
              <a:rPr sz="1700" spc="-10" dirty="0">
                <a:solidFill>
                  <a:srgbClr val="D0D5DA"/>
                </a:solidFill>
                <a:latin typeface="Roboto Lt"/>
                <a:cs typeface="Roboto Lt"/>
              </a:rPr>
              <a:t>.</a:t>
            </a:r>
            <a:endParaRPr sz="1700">
              <a:latin typeface="Roboto Lt"/>
              <a:cs typeface="Roboto L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1999" y="4057649"/>
            <a:ext cx="3352800" cy="1524000"/>
            <a:chOff x="761999" y="4057649"/>
            <a:chExt cx="3352800" cy="1524000"/>
          </a:xfrm>
        </p:grpSpPr>
        <p:sp>
          <p:nvSpPr>
            <p:cNvPr id="10" name="object 10"/>
            <p:cNvSpPr/>
            <p:nvPr/>
          </p:nvSpPr>
          <p:spPr>
            <a:xfrm>
              <a:off x="781049" y="4057649"/>
              <a:ext cx="3333750" cy="1524000"/>
            </a:xfrm>
            <a:custGeom>
              <a:avLst/>
              <a:gdLst/>
              <a:ahLst/>
              <a:cxnLst/>
              <a:rect l="l" t="t" r="r" b="b"/>
              <a:pathLst>
                <a:path w="3333750" h="1524000">
                  <a:moveTo>
                    <a:pt x="3262552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262552" y="0"/>
                  </a:lnTo>
                  <a:lnTo>
                    <a:pt x="3267508" y="488"/>
                  </a:lnTo>
                  <a:lnTo>
                    <a:pt x="3304043" y="15621"/>
                  </a:lnTo>
                  <a:lnTo>
                    <a:pt x="3329863" y="51661"/>
                  </a:lnTo>
                  <a:lnTo>
                    <a:pt x="3333749" y="71196"/>
                  </a:lnTo>
                  <a:lnTo>
                    <a:pt x="3333749" y="1452803"/>
                  </a:lnTo>
                  <a:lnTo>
                    <a:pt x="3318127" y="1494293"/>
                  </a:lnTo>
                  <a:lnTo>
                    <a:pt x="3282086" y="1520113"/>
                  </a:lnTo>
                  <a:lnTo>
                    <a:pt x="3262552" y="15239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61999" y="4057649"/>
              <a:ext cx="38100" cy="1524000"/>
            </a:xfrm>
            <a:custGeom>
              <a:avLst/>
              <a:gdLst/>
              <a:ahLst/>
              <a:cxnLst/>
              <a:rect l="l" t="t" r="r" b="b"/>
              <a:pathLst>
                <a:path w="38100" h="1524000">
                  <a:moveTo>
                    <a:pt x="38099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523999"/>
                  </a:lnTo>
                  <a:close/>
                </a:path>
              </a:pathLst>
            </a:custGeom>
            <a:solidFill>
              <a:srgbClr val="FF6A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016000" y="4041094"/>
            <a:ext cx="2684145" cy="128714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950" b="1" spc="9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500</a:t>
            </a:r>
            <a:r>
              <a:rPr sz="4050" b="1" spc="9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</a:t>
            </a:r>
            <a:endParaRPr sz="40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7000"/>
              </a:lnSpc>
              <a:spcBef>
                <a:spcPts val="15"/>
              </a:spcBef>
            </a:pPr>
            <a:r>
              <a:rPr sz="1500" spc="-3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Indians</a:t>
            </a:r>
            <a:r>
              <a:rPr sz="1500" spc="-6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lack</a:t>
            </a:r>
            <a:r>
              <a:rPr sz="1500" spc="-6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access</a:t>
            </a:r>
            <a:r>
              <a:rPr sz="1500" spc="-6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500" spc="-5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affordable </a:t>
            </a:r>
            <a:r>
              <a:rPr sz="1500" spc="-1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healthcare</a:t>
            </a:r>
            <a:endParaRPr sz="15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19599" y="4057649"/>
            <a:ext cx="3352800" cy="1524000"/>
            <a:chOff x="4419599" y="4057649"/>
            <a:chExt cx="3352800" cy="1524000"/>
          </a:xfrm>
        </p:grpSpPr>
        <p:sp>
          <p:nvSpPr>
            <p:cNvPr id="14" name="object 14"/>
            <p:cNvSpPr/>
            <p:nvPr/>
          </p:nvSpPr>
          <p:spPr>
            <a:xfrm>
              <a:off x="4438649" y="4057649"/>
              <a:ext cx="3333750" cy="1524000"/>
            </a:xfrm>
            <a:custGeom>
              <a:avLst/>
              <a:gdLst/>
              <a:ahLst/>
              <a:cxnLst/>
              <a:rect l="l" t="t" r="r" b="b"/>
              <a:pathLst>
                <a:path w="3333750" h="1524000">
                  <a:moveTo>
                    <a:pt x="3262552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262552" y="0"/>
                  </a:lnTo>
                  <a:lnTo>
                    <a:pt x="3267507" y="488"/>
                  </a:lnTo>
                  <a:lnTo>
                    <a:pt x="3304042" y="15621"/>
                  </a:lnTo>
                  <a:lnTo>
                    <a:pt x="3329862" y="51661"/>
                  </a:lnTo>
                  <a:lnTo>
                    <a:pt x="3333749" y="71196"/>
                  </a:lnTo>
                  <a:lnTo>
                    <a:pt x="3333749" y="1452803"/>
                  </a:lnTo>
                  <a:lnTo>
                    <a:pt x="3318127" y="1494293"/>
                  </a:lnTo>
                  <a:lnTo>
                    <a:pt x="3282087" y="1520113"/>
                  </a:lnTo>
                  <a:lnTo>
                    <a:pt x="3262552" y="15239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419599" y="4057649"/>
              <a:ext cx="38100" cy="1524000"/>
            </a:xfrm>
            <a:custGeom>
              <a:avLst/>
              <a:gdLst/>
              <a:ahLst/>
              <a:cxnLst/>
              <a:rect l="l" t="t" r="r" b="b"/>
              <a:pathLst>
                <a:path w="38100" h="1524000">
                  <a:moveTo>
                    <a:pt x="38099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523999"/>
                  </a:lnTo>
                  <a:close/>
                </a:path>
              </a:pathLst>
            </a:custGeom>
            <a:solidFill>
              <a:srgbClr val="FFD9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673599" y="4034095"/>
            <a:ext cx="2614930" cy="102743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4150" b="1" spc="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₹</a:t>
            </a:r>
            <a:r>
              <a:rPr sz="3950" b="1" spc="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300–800</a:t>
            </a:r>
            <a:endParaRPr sz="39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500" spc="-5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Average</a:t>
            </a:r>
            <a:r>
              <a:rPr sz="1500" spc="-3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doctor</a:t>
            </a:r>
            <a:r>
              <a:rPr sz="1500" spc="-2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consultation fee</a:t>
            </a:r>
            <a:endParaRPr sz="15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077199" y="4057649"/>
            <a:ext cx="3352800" cy="1524000"/>
            <a:chOff x="8077199" y="4057649"/>
            <a:chExt cx="3352800" cy="1524000"/>
          </a:xfrm>
        </p:grpSpPr>
        <p:sp>
          <p:nvSpPr>
            <p:cNvPr id="18" name="object 18"/>
            <p:cNvSpPr/>
            <p:nvPr/>
          </p:nvSpPr>
          <p:spPr>
            <a:xfrm>
              <a:off x="8096249" y="4057649"/>
              <a:ext cx="3333750" cy="1524000"/>
            </a:xfrm>
            <a:custGeom>
              <a:avLst/>
              <a:gdLst/>
              <a:ahLst/>
              <a:cxnLst/>
              <a:rect l="l" t="t" r="r" b="b"/>
              <a:pathLst>
                <a:path w="3333750" h="1524000">
                  <a:moveTo>
                    <a:pt x="3262552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262552" y="0"/>
                  </a:lnTo>
                  <a:lnTo>
                    <a:pt x="3267507" y="488"/>
                  </a:lnTo>
                  <a:lnTo>
                    <a:pt x="3304043" y="15621"/>
                  </a:lnTo>
                  <a:lnTo>
                    <a:pt x="3329862" y="51661"/>
                  </a:lnTo>
                  <a:lnTo>
                    <a:pt x="3333748" y="71196"/>
                  </a:lnTo>
                  <a:lnTo>
                    <a:pt x="3333748" y="1452803"/>
                  </a:lnTo>
                  <a:lnTo>
                    <a:pt x="3318126" y="1494293"/>
                  </a:lnTo>
                  <a:lnTo>
                    <a:pt x="3282086" y="1520113"/>
                  </a:lnTo>
                  <a:lnTo>
                    <a:pt x="3262552" y="15239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077199" y="4057649"/>
              <a:ext cx="38100" cy="1524000"/>
            </a:xfrm>
            <a:custGeom>
              <a:avLst/>
              <a:gdLst/>
              <a:ahLst/>
              <a:cxnLst/>
              <a:rect l="l" t="t" r="r" b="b"/>
              <a:pathLst>
                <a:path w="38100" h="1524000">
                  <a:moveTo>
                    <a:pt x="38099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523999"/>
                  </a:lnTo>
                  <a:close/>
                </a:path>
              </a:pathLst>
            </a:custGeom>
            <a:solidFill>
              <a:srgbClr val="FF6A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331200" y="4051155"/>
            <a:ext cx="2790190" cy="127698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3950" b="1" spc="8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65%</a:t>
            </a:r>
            <a:endParaRPr sz="39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7000"/>
              </a:lnSpc>
              <a:spcBef>
                <a:spcPts val="35"/>
              </a:spcBef>
            </a:pPr>
            <a:r>
              <a:rPr sz="150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1500" spc="-6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rural</a:t>
            </a:r>
            <a:r>
              <a:rPr sz="1500" spc="-6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3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Indians</a:t>
            </a:r>
            <a:r>
              <a:rPr sz="1500" spc="-6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delay</a:t>
            </a:r>
            <a:r>
              <a:rPr sz="1500" spc="-6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doctor</a:t>
            </a:r>
            <a:r>
              <a:rPr sz="1500" spc="-65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visits </a:t>
            </a:r>
            <a:r>
              <a:rPr sz="1500" spc="-2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due</a:t>
            </a:r>
            <a:r>
              <a:rPr sz="1500" spc="-6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500" spc="-5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0" dirty="0">
                <a:solidFill>
                  <a:srgbClr val="D0D5DA"/>
                </a:solidFill>
                <a:latin typeface="Microsoft Sans Serif" panose="020B0604020202020204"/>
                <a:cs typeface="Microsoft Sans Serif" panose="020B0604020202020204"/>
              </a:rPr>
              <a:t>cost</a:t>
            </a:r>
            <a:endParaRPr sz="1500"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sz="4050" spc="-180" dirty="0">
                <a:solidFill>
                  <a:srgbClr val="003366"/>
                </a:solidFill>
              </a:rPr>
              <a:t>Why</a:t>
            </a:r>
            <a:r>
              <a:rPr sz="4050" spc="-235" dirty="0">
                <a:solidFill>
                  <a:srgbClr val="003366"/>
                </a:solidFill>
              </a:rPr>
              <a:t> </a:t>
            </a:r>
            <a:r>
              <a:rPr sz="4050" spc="-229" dirty="0">
                <a:solidFill>
                  <a:srgbClr val="003366"/>
                </a:solidFill>
              </a:rPr>
              <a:t>Existing</a:t>
            </a:r>
            <a:r>
              <a:rPr sz="4050" spc="-225" dirty="0">
                <a:solidFill>
                  <a:srgbClr val="003366"/>
                </a:solidFill>
              </a:rPr>
              <a:t> </a:t>
            </a:r>
            <a:r>
              <a:rPr sz="4050" spc="-229" dirty="0">
                <a:solidFill>
                  <a:srgbClr val="003366"/>
                </a:solidFill>
              </a:rPr>
              <a:t>Solutions</a:t>
            </a:r>
            <a:r>
              <a:rPr sz="4050" spc="-235" dirty="0">
                <a:solidFill>
                  <a:srgbClr val="003366"/>
                </a:solidFill>
              </a:rPr>
              <a:t> </a:t>
            </a:r>
            <a:r>
              <a:rPr sz="4050" spc="-240" dirty="0">
                <a:solidFill>
                  <a:srgbClr val="003366"/>
                </a:solidFill>
              </a:rPr>
              <a:t>Fall</a:t>
            </a:r>
            <a:r>
              <a:rPr sz="4050" spc="-229" dirty="0">
                <a:solidFill>
                  <a:srgbClr val="003366"/>
                </a:solidFill>
              </a:rPr>
              <a:t> </a:t>
            </a:r>
            <a:r>
              <a:rPr sz="4050" spc="-120" dirty="0">
                <a:solidFill>
                  <a:srgbClr val="003366"/>
                </a:solidFill>
              </a:rPr>
              <a:t>Short</a:t>
            </a:r>
            <a:endParaRPr sz="4050"/>
          </a:p>
        </p:txBody>
      </p:sp>
      <p:sp>
        <p:nvSpPr>
          <p:cNvPr id="3" name="object 3"/>
          <p:cNvSpPr txBox="1"/>
          <p:nvPr/>
        </p:nvSpPr>
        <p:spPr>
          <a:xfrm>
            <a:off x="3359150" y="1332797"/>
            <a:ext cx="54737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0" dirty="0">
                <a:solidFill>
                  <a:srgbClr val="666666"/>
                </a:solidFill>
                <a:latin typeface="Microsoft Sans Serif" panose="020B0604020202020204"/>
                <a:cs typeface="Microsoft Sans Serif" panose="020B0604020202020204"/>
              </a:rPr>
              <a:t>Current</a:t>
            </a:r>
            <a:r>
              <a:rPr sz="2000" spc="-90" dirty="0">
                <a:solidFill>
                  <a:srgbClr val="6666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00" spc="-20" dirty="0">
                <a:solidFill>
                  <a:srgbClr val="666666"/>
                </a:solidFill>
                <a:latin typeface="Microsoft Sans Serif" panose="020B0604020202020204"/>
                <a:cs typeface="Microsoft Sans Serif" panose="020B0604020202020204"/>
              </a:rPr>
              <a:t>options</a:t>
            </a:r>
            <a:r>
              <a:rPr sz="2000" spc="-90" dirty="0">
                <a:solidFill>
                  <a:srgbClr val="6666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00" spc="-25" dirty="0">
                <a:solidFill>
                  <a:srgbClr val="666666"/>
                </a:solidFill>
                <a:latin typeface="Microsoft Sans Serif" panose="020B0604020202020204"/>
                <a:cs typeface="Microsoft Sans Serif" panose="020B0604020202020204"/>
              </a:rPr>
              <a:t>create</a:t>
            </a:r>
            <a:r>
              <a:rPr sz="2000" spc="-90" dirty="0">
                <a:solidFill>
                  <a:srgbClr val="6666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00" spc="-45" dirty="0">
                <a:solidFill>
                  <a:srgbClr val="666666"/>
                </a:solidFill>
                <a:latin typeface="Microsoft Sans Serif" panose="020B0604020202020204"/>
                <a:cs typeface="Microsoft Sans Serif" panose="020B0604020202020204"/>
              </a:rPr>
              <a:t>more</a:t>
            </a:r>
            <a:r>
              <a:rPr sz="2000" spc="-90" dirty="0">
                <a:solidFill>
                  <a:srgbClr val="6666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00" spc="-10" dirty="0">
                <a:solidFill>
                  <a:srgbClr val="666666"/>
                </a:solidFill>
                <a:latin typeface="Microsoft Sans Serif" panose="020B0604020202020204"/>
                <a:cs typeface="Microsoft Sans Serif" panose="020B0604020202020204"/>
              </a:rPr>
              <a:t>confusion</a:t>
            </a:r>
            <a:r>
              <a:rPr sz="2000" spc="-90" dirty="0">
                <a:solidFill>
                  <a:srgbClr val="6666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00" spc="-30" dirty="0">
                <a:solidFill>
                  <a:srgbClr val="666666"/>
                </a:solidFill>
                <a:latin typeface="Microsoft Sans Serif" panose="020B0604020202020204"/>
                <a:cs typeface="Microsoft Sans Serif" panose="020B0604020202020204"/>
              </a:rPr>
              <a:t>than</a:t>
            </a:r>
            <a:r>
              <a:rPr sz="2000" spc="-90" dirty="0">
                <a:solidFill>
                  <a:srgbClr val="6666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000" spc="-10" dirty="0">
                <a:solidFill>
                  <a:srgbClr val="666666"/>
                </a:solidFill>
                <a:latin typeface="Microsoft Sans Serif" panose="020B0604020202020204"/>
                <a:cs typeface="Microsoft Sans Serif" panose="020B0604020202020204"/>
              </a:rPr>
              <a:t>clarity</a:t>
            </a:r>
            <a:endParaRPr sz="20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95449" y="5686424"/>
            <a:ext cx="8801100" cy="600075"/>
          </a:xfrm>
          <a:custGeom>
            <a:avLst/>
            <a:gdLst/>
            <a:ahLst/>
            <a:cxnLst/>
            <a:rect l="l" t="t" r="r" b="b"/>
            <a:pathLst>
              <a:path w="8801100" h="600075">
                <a:moveTo>
                  <a:pt x="8508427" y="599984"/>
                </a:moveTo>
                <a:lnTo>
                  <a:pt x="292671" y="599984"/>
                </a:lnTo>
                <a:lnTo>
                  <a:pt x="248744" y="595657"/>
                </a:lnTo>
                <a:lnTo>
                  <a:pt x="205918" y="584930"/>
                </a:lnTo>
                <a:lnTo>
                  <a:pt x="165139" y="568038"/>
                </a:lnTo>
                <a:lnTo>
                  <a:pt x="127271" y="545341"/>
                </a:lnTo>
                <a:lnTo>
                  <a:pt x="93150" y="517340"/>
                </a:lnTo>
                <a:lnTo>
                  <a:pt x="63502" y="484627"/>
                </a:lnTo>
                <a:lnTo>
                  <a:pt x="38979" y="447926"/>
                </a:lnTo>
                <a:lnTo>
                  <a:pt x="20103" y="408016"/>
                </a:lnTo>
                <a:lnTo>
                  <a:pt x="7290" y="365777"/>
                </a:lnTo>
                <a:lnTo>
                  <a:pt x="812" y="322107"/>
                </a:lnTo>
                <a:lnTo>
                  <a:pt x="0" y="300037"/>
                </a:lnTo>
                <a:lnTo>
                  <a:pt x="361" y="285315"/>
                </a:lnTo>
                <a:lnTo>
                  <a:pt x="5765" y="241502"/>
                </a:lnTo>
                <a:lnTo>
                  <a:pt x="17538" y="198957"/>
                </a:lnTo>
                <a:lnTo>
                  <a:pt x="35428" y="158600"/>
                </a:lnTo>
                <a:lnTo>
                  <a:pt x="59044" y="121305"/>
                </a:lnTo>
                <a:lnTo>
                  <a:pt x="87878" y="87878"/>
                </a:lnTo>
                <a:lnTo>
                  <a:pt x="121305" y="59044"/>
                </a:lnTo>
                <a:lnTo>
                  <a:pt x="158600" y="35428"/>
                </a:lnTo>
                <a:lnTo>
                  <a:pt x="198957" y="17538"/>
                </a:lnTo>
                <a:lnTo>
                  <a:pt x="241502" y="5764"/>
                </a:lnTo>
                <a:lnTo>
                  <a:pt x="285315" y="361"/>
                </a:lnTo>
                <a:lnTo>
                  <a:pt x="300037" y="0"/>
                </a:lnTo>
                <a:lnTo>
                  <a:pt x="8508427" y="90"/>
                </a:lnTo>
                <a:lnTo>
                  <a:pt x="8552354" y="4416"/>
                </a:lnTo>
                <a:lnTo>
                  <a:pt x="8595179" y="15144"/>
                </a:lnTo>
                <a:lnTo>
                  <a:pt x="8635959" y="32035"/>
                </a:lnTo>
                <a:lnTo>
                  <a:pt x="8673825" y="54732"/>
                </a:lnTo>
                <a:lnTo>
                  <a:pt x="8707947" y="82734"/>
                </a:lnTo>
                <a:lnTo>
                  <a:pt x="8737597" y="115446"/>
                </a:lnTo>
                <a:lnTo>
                  <a:pt x="8762119" y="152146"/>
                </a:lnTo>
                <a:lnTo>
                  <a:pt x="8780995" y="192056"/>
                </a:lnTo>
                <a:lnTo>
                  <a:pt x="8793807" y="234296"/>
                </a:lnTo>
                <a:lnTo>
                  <a:pt x="8800286" y="277967"/>
                </a:lnTo>
                <a:lnTo>
                  <a:pt x="8801009" y="307403"/>
                </a:lnTo>
                <a:lnTo>
                  <a:pt x="8800286" y="322107"/>
                </a:lnTo>
                <a:lnTo>
                  <a:pt x="8793807" y="365777"/>
                </a:lnTo>
                <a:lnTo>
                  <a:pt x="8780995" y="408016"/>
                </a:lnTo>
                <a:lnTo>
                  <a:pt x="8762119" y="447926"/>
                </a:lnTo>
                <a:lnTo>
                  <a:pt x="8737597" y="484627"/>
                </a:lnTo>
                <a:lnTo>
                  <a:pt x="8707947" y="517340"/>
                </a:lnTo>
                <a:lnTo>
                  <a:pt x="8673826" y="545341"/>
                </a:lnTo>
                <a:lnTo>
                  <a:pt x="8635959" y="568038"/>
                </a:lnTo>
                <a:lnTo>
                  <a:pt x="8595179" y="584930"/>
                </a:lnTo>
                <a:lnTo>
                  <a:pt x="8552354" y="595657"/>
                </a:lnTo>
                <a:lnTo>
                  <a:pt x="8508427" y="599984"/>
                </a:lnTo>
                <a:close/>
              </a:path>
            </a:pathLst>
          </a:custGeom>
          <a:solidFill>
            <a:srgbClr val="E6F1F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966118" y="5811722"/>
            <a:ext cx="8260080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-2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None</a:t>
            </a:r>
            <a:r>
              <a:rPr sz="1800" spc="-4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of</a:t>
            </a:r>
            <a:r>
              <a:rPr sz="1800" spc="-4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spc="-1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these</a:t>
            </a:r>
            <a:r>
              <a:rPr sz="1800" spc="-35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tell</a:t>
            </a:r>
            <a:r>
              <a:rPr sz="1800" spc="-4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1800" spc="-35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what</a:t>
            </a:r>
            <a:r>
              <a:rPr sz="1800" spc="-4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1800" spc="-4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actually</a:t>
            </a:r>
            <a:r>
              <a:rPr sz="1800" spc="-35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need</a:t>
            </a:r>
            <a:r>
              <a:rPr sz="1800" spc="-4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800" spc="-35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know</a:t>
            </a:r>
            <a:r>
              <a:rPr sz="1800" spc="-4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first</a:t>
            </a:r>
            <a:r>
              <a:rPr sz="1800" spc="-4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spc="440" dirty="0">
                <a:solidFill>
                  <a:srgbClr val="003366"/>
                </a:solidFill>
                <a:latin typeface="Franklin Gothic Medium" panose="020B0603020102020204"/>
                <a:cs typeface="Franklin Gothic Medium" panose="020B0603020102020204"/>
              </a:rPr>
              <a:t>—</a:t>
            </a:r>
            <a:r>
              <a:rPr sz="1800" spc="-10" dirty="0">
                <a:solidFill>
                  <a:srgbClr val="003366"/>
                </a:solidFill>
                <a:latin typeface="Franklin Gothic Medium" panose="020B0603020102020204"/>
                <a:cs typeface="Franklin Gothic Medium" panose="020B0603020102020204"/>
              </a:rPr>
              <a:t> </a:t>
            </a:r>
            <a:r>
              <a:rPr sz="180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800" spc="-4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this</a:t>
            </a:r>
            <a:r>
              <a:rPr sz="1800" spc="-35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spc="-1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serious</a:t>
            </a:r>
            <a:r>
              <a:rPr sz="1800" spc="-4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or</a:t>
            </a:r>
            <a:r>
              <a:rPr sz="1800" spc="-4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00" spc="-20" dirty="0">
                <a:solidFill>
                  <a:srgbClr val="003366"/>
                </a:solidFill>
                <a:latin typeface="Microsoft Sans Serif" panose="020B0604020202020204"/>
                <a:cs typeface="Microsoft Sans Serif" panose="020B0604020202020204"/>
              </a:rPr>
              <a:t>not</a:t>
            </a:r>
            <a:r>
              <a:rPr sz="1800" spc="-20" dirty="0">
                <a:solidFill>
                  <a:srgbClr val="003366"/>
                </a:solidFill>
                <a:latin typeface="Franklin Gothic Medium" panose="020B0603020102020204"/>
                <a:cs typeface="Franklin Gothic Medium" panose="020B0603020102020204"/>
              </a:rPr>
              <a:t>?</a:t>
            </a:r>
            <a:endParaRPr sz="1800">
              <a:latin typeface="Franklin Gothic Medium" panose="020B0603020102020204"/>
              <a:cs typeface="Franklin Gothic Medium" panose="020B06030201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6762" y="2081212"/>
            <a:ext cx="3295650" cy="3219450"/>
            <a:chOff x="766762" y="2081212"/>
            <a:chExt cx="3295650" cy="321945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0" name="object 10"/>
            <p:cNvSpPr/>
            <p:nvPr/>
          </p:nvSpPr>
          <p:spPr>
            <a:xfrm>
              <a:off x="766762" y="2081212"/>
              <a:ext cx="3295650" cy="3219450"/>
            </a:xfrm>
            <a:custGeom>
              <a:avLst/>
              <a:gdLst/>
              <a:ahLst/>
              <a:cxnLst/>
              <a:rect l="l" t="t" r="r" b="b"/>
              <a:pathLst>
                <a:path w="3295650" h="3219450">
                  <a:moveTo>
                    <a:pt x="3193304" y="3219449"/>
                  </a:moveTo>
                  <a:lnTo>
                    <a:pt x="102345" y="3219449"/>
                  </a:lnTo>
                  <a:lnTo>
                    <a:pt x="95221" y="3218747"/>
                  </a:lnTo>
                  <a:lnTo>
                    <a:pt x="54661" y="3204984"/>
                  </a:lnTo>
                  <a:lnTo>
                    <a:pt x="22456" y="3176747"/>
                  </a:lnTo>
                  <a:lnTo>
                    <a:pt x="3507" y="3138335"/>
                  </a:lnTo>
                  <a:lnTo>
                    <a:pt x="0" y="3117104"/>
                  </a:lnTo>
                  <a:lnTo>
                    <a:pt x="0" y="31099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193304" y="0"/>
                  </a:lnTo>
                  <a:lnTo>
                    <a:pt x="3234674" y="11090"/>
                  </a:lnTo>
                  <a:lnTo>
                    <a:pt x="3268652" y="37168"/>
                  </a:lnTo>
                  <a:lnTo>
                    <a:pt x="3290063" y="74263"/>
                  </a:lnTo>
                  <a:lnTo>
                    <a:pt x="3295649" y="102345"/>
                  </a:lnTo>
                  <a:lnTo>
                    <a:pt x="3295649" y="3117104"/>
                  </a:lnTo>
                  <a:lnTo>
                    <a:pt x="3284558" y="3158474"/>
                  </a:lnTo>
                  <a:lnTo>
                    <a:pt x="3258480" y="3192451"/>
                  </a:lnTo>
                  <a:lnTo>
                    <a:pt x="3221385" y="3213862"/>
                  </a:lnTo>
                  <a:lnTo>
                    <a:pt x="3200427" y="3218747"/>
                  </a:lnTo>
                  <a:lnTo>
                    <a:pt x="3193304" y="3219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66762" y="2081212"/>
              <a:ext cx="3295650" cy="3219450"/>
            </a:xfrm>
            <a:custGeom>
              <a:avLst/>
              <a:gdLst/>
              <a:ahLst/>
              <a:cxnLst/>
              <a:rect l="l" t="t" r="r" b="b"/>
              <a:pathLst>
                <a:path w="3295650" h="3219450">
                  <a:moveTo>
                    <a:pt x="0" y="31099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3186112" y="0"/>
                  </a:lnTo>
                  <a:lnTo>
                    <a:pt x="3193304" y="0"/>
                  </a:lnTo>
                  <a:lnTo>
                    <a:pt x="3200427" y="701"/>
                  </a:lnTo>
                  <a:lnTo>
                    <a:pt x="3240987" y="14464"/>
                  </a:lnTo>
                  <a:lnTo>
                    <a:pt x="3263566" y="32082"/>
                  </a:lnTo>
                  <a:lnTo>
                    <a:pt x="3268652" y="37168"/>
                  </a:lnTo>
                  <a:lnTo>
                    <a:pt x="3273193" y="42701"/>
                  </a:lnTo>
                  <a:lnTo>
                    <a:pt x="3277188" y="48681"/>
                  </a:lnTo>
                  <a:lnTo>
                    <a:pt x="3281184" y="54661"/>
                  </a:lnTo>
                  <a:lnTo>
                    <a:pt x="3284558" y="60974"/>
                  </a:lnTo>
                  <a:lnTo>
                    <a:pt x="3287311" y="67619"/>
                  </a:lnTo>
                  <a:lnTo>
                    <a:pt x="3290063" y="74263"/>
                  </a:lnTo>
                  <a:lnTo>
                    <a:pt x="3292141" y="81113"/>
                  </a:lnTo>
                  <a:lnTo>
                    <a:pt x="3293544" y="88167"/>
                  </a:lnTo>
                  <a:lnTo>
                    <a:pt x="3294948" y="95221"/>
                  </a:lnTo>
                  <a:lnTo>
                    <a:pt x="3295649" y="102345"/>
                  </a:lnTo>
                  <a:lnTo>
                    <a:pt x="3295649" y="109537"/>
                  </a:lnTo>
                  <a:lnTo>
                    <a:pt x="3295649" y="3109912"/>
                  </a:lnTo>
                  <a:lnTo>
                    <a:pt x="3295649" y="3117104"/>
                  </a:lnTo>
                  <a:lnTo>
                    <a:pt x="3294948" y="3124227"/>
                  </a:lnTo>
                  <a:lnTo>
                    <a:pt x="3293544" y="3131281"/>
                  </a:lnTo>
                  <a:lnTo>
                    <a:pt x="3292141" y="3138335"/>
                  </a:lnTo>
                  <a:lnTo>
                    <a:pt x="3290063" y="3145185"/>
                  </a:lnTo>
                  <a:lnTo>
                    <a:pt x="3287311" y="3151829"/>
                  </a:lnTo>
                  <a:lnTo>
                    <a:pt x="3284558" y="3158474"/>
                  </a:lnTo>
                  <a:lnTo>
                    <a:pt x="3258480" y="3192451"/>
                  </a:lnTo>
                  <a:lnTo>
                    <a:pt x="3221385" y="3213862"/>
                  </a:lnTo>
                  <a:lnTo>
                    <a:pt x="3186112" y="3219449"/>
                  </a:lnTo>
                  <a:lnTo>
                    <a:pt x="109537" y="3219449"/>
                  </a:lnTo>
                  <a:lnTo>
                    <a:pt x="67619" y="3211110"/>
                  </a:lnTo>
                  <a:lnTo>
                    <a:pt x="60974" y="3208358"/>
                  </a:lnTo>
                  <a:lnTo>
                    <a:pt x="32082" y="3187366"/>
                  </a:lnTo>
                  <a:lnTo>
                    <a:pt x="26996" y="3182280"/>
                  </a:lnTo>
                  <a:lnTo>
                    <a:pt x="22456" y="3176747"/>
                  </a:lnTo>
                  <a:lnTo>
                    <a:pt x="18460" y="3170766"/>
                  </a:lnTo>
                  <a:lnTo>
                    <a:pt x="14464" y="3164786"/>
                  </a:lnTo>
                  <a:lnTo>
                    <a:pt x="11090" y="3158474"/>
                  </a:lnTo>
                  <a:lnTo>
                    <a:pt x="8337" y="3151829"/>
                  </a:lnTo>
                  <a:lnTo>
                    <a:pt x="5585" y="3145185"/>
                  </a:lnTo>
                  <a:lnTo>
                    <a:pt x="3507" y="3138335"/>
                  </a:lnTo>
                  <a:lnTo>
                    <a:pt x="2104" y="3131281"/>
                  </a:lnTo>
                  <a:lnTo>
                    <a:pt x="701" y="3124227"/>
                  </a:lnTo>
                  <a:lnTo>
                    <a:pt x="0" y="3117104"/>
                  </a:lnTo>
                  <a:lnTo>
                    <a:pt x="0" y="310991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57274" y="2914649"/>
              <a:ext cx="2714625" cy="19050"/>
            </a:xfrm>
            <a:custGeom>
              <a:avLst/>
              <a:gdLst/>
              <a:ahLst/>
              <a:cxnLst/>
              <a:rect l="l" t="t" r="r" b="b"/>
              <a:pathLst>
                <a:path w="2714625" h="19050">
                  <a:moveTo>
                    <a:pt x="27146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714624" y="0"/>
                  </a:lnTo>
                  <a:lnTo>
                    <a:pt x="2714624" y="19049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044575" y="2353859"/>
            <a:ext cx="1917064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50" b="1" spc="-155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Google</a:t>
            </a:r>
            <a:r>
              <a:rPr sz="2350" b="1" spc="-120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50" b="1" spc="-110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Search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44575" y="3063980"/>
            <a:ext cx="272542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500" spc="-6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Gives</a:t>
            </a:r>
            <a:r>
              <a:rPr sz="1500" spc="-4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450" spc="-114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10</a:t>
            </a:r>
            <a:r>
              <a:rPr sz="145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different</a:t>
            </a:r>
            <a:r>
              <a:rPr sz="1500" spc="-3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3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answers</a:t>
            </a:r>
            <a:r>
              <a:rPr sz="1500" spc="-3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but</a:t>
            </a:r>
            <a:r>
              <a:rPr sz="1500" spc="-3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no </a:t>
            </a:r>
            <a:r>
              <a:rPr sz="1500" spc="-2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decision</a:t>
            </a:r>
            <a:r>
              <a:rPr sz="1450" spc="-2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. </a:t>
            </a:r>
            <a:r>
              <a:rPr sz="1500" spc="-5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Creates</a:t>
            </a:r>
            <a:r>
              <a:rPr sz="1500" spc="-2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anxiety</a:t>
            </a:r>
            <a:r>
              <a:rPr sz="1500" spc="-2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rather </a:t>
            </a:r>
            <a:r>
              <a:rPr sz="1500" spc="-2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than</a:t>
            </a:r>
            <a:r>
              <a:rPr sz="1500" spc="-6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clarity</a:t>
            </a:r>
            <a:r>
              <a:rPr sz="1500" spc="-5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1500" spc="-5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500" spc="-5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user</a:t>
            </a:r>
            <a:r>
              <a:rPr sz="145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endParaRPr sz="14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57274" y="4581524"/>
            <a:ext cx="2714625" cy="428625"/>
            <a:chOff x="1057274" y="4581524"/>
            <a:chExt cx="2714625" cy="428625"/>
          </a:xfrm>
        </p:grpSpPr>
        <p:sp>
          <p:nvSpPr>
            <p:cNvPr id="16" name="object 16"/>
            <p:cNvSpPr/>
            <p:nvPr/>
          </p:nvSpPr>
          <p:spPr>
            <a:xfrm>
              <a:off x="1057274" y="4581524"/>
              <a:ext cx="2714625" cy="428625"/>
            </a:xfrm>
            <a:custGeom>
              <a:avLst/>
              <a:gdLst/>
              <a:ahLst/>
              <a:cxnLst/>
              <a:rect l="l" t="t" r="r" b="b"/>
              <a:pathLst>
                <a:path w="2714625" h="428625">
                  <a:moveTo>
                    <a:pt x="2714624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2714624" y="0"/>
                  </a:lnTo>
                  <a:lnTo>
                    <a:pt x="2714624" y="42862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57274" y="4581524"/>
              <a:ext cx="38100" cy="428625"/>
            </a:xfrm>
            <a:custGeom>
              <a:avLst/>
              <a:gdLst/>
              <a:ahLst/>
              <a:cxnLst/>
              <a:rect l="l" t="t" r="r" b="b"/>
              <a:pathLst>
                <a:path w="38100" h="428625">
                  <a:moveTo>
                    <a:pt x="38099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28624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17612" y="4721224"/>
              <a:ext cx="174624" cy="15081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95374" y="4685304"/>
            <a:ext cx="267652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0050">
              <a:lnSpc>
                <a:spcPct val="100000"/>
              </a:lnSpc>
              <a:spcBef>
                <a:spcPts val="130"/>
              </a:spcBef>
            </a:pPr>
            <a:r>
              <a:rPr sz="1150" b="1" spc="-50" dirty="0">
                <a:solidFill>
                  <a:srgbClr val="BF382A"/>
                </a:solidFill>
                <a:latin typeface="Arial" panose="020B0604020202020204"/>
                <a:cs typeface="Arial" panose="020B0604020202020204"/>
              </a:rPr>
              <a:t>Information</a:t>
            </a:r>
            <a:r>
              <a:rPr sz="1150" b="1" spc="10" dirty="0">
                <a:solidFill>
                  <a:srgbClr val="BF382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50" b="1" spc="-10" dirty="0">
                <a:solidFill>
                  <a:srgbClr val="BF382A"/>
                </a:solidFill>
                <a:latin typeface="Arial" panose="020B0604020202020204"/>
                <a:cs typeface="Arial" panose="020B0604020202020204"/>
              </a:rPr>
              <a:t>Overload</a:t>
            </a:r>
            <a:endParaRPr sz="11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52936" y="2081212"/>
            <a:ext cx="3286125" cy="3219450"/>
            <a:chOff x="4452936" y="2081212"/>
            <a:chExt cx="3286125" cy="321945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2" name="object 22"/>
            <p:cNvSpPr/>
            <p:nvPr/>
          </p:nvSpPr>
          <p:spPr>
            <a:xfrm>
              <a:off x="4452936" y="2081212"/>
              <a:ext cx="3286125" cy="3219450"/>
            </a:xfrm>
            <a:custGeom>
              <a:avLst/>
              <a:gdLst/>
              <a:ahLst/>
              <a:cxnLst/>
              <a:rect l="l" t="t" r="r" b="b"/>
              <a:pathLst>
                <a:path w="3286125" h="3219450">
                  <a:moveTo>
                    <a:pt x="3183779" y="3219449"/>
                  </a:moveTo>
                  <a:lnTo>
                    <a:pt x="102345" y="3219449"/>
                  </a:lnTo>
                  <a:lnTo>
                    <a:pt x="95222" y="3218747"/>
                  </a:lnTo>
                  <a:lnTo>
                    <a:pt x="54661" y="3204984"/>
                  </a:lnTo>
                  <a:lnTo>
                    <a:pt x="22455" y="3176747"/>
                  </a:lnTo>
                  <a:lnTo>
                    <a:pt x="3507" y="3138335"/>
                  </a:lnTo>
                  <a:lnTo>
                    <a:pt x="0" y="3117104"/>
                  </a:lnTo>
                  <a:lnTo>
                    <a:pt x="0" y="31099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183779" y="0"/>
                  </a:lnTo>
                  <a:lnTo>
                    <a:pt x="3225149" y="11090"/>
                  </a:lnTo>
                  <a:lnTo>
                    <a:pt x="3259127" y="37168"/>
                  </a:lnTo>
                  <a:lnTo>
                    <a:pt x="3280538" y="74263"/>
                  </a:lnTo>
                  <a:lnTo>
                    <a:pt x="3286124" y="102345"/>
                  </a:lnTo>
                  <a:lnTo>
                    <a:pt x="3286124" y="3117104"/>
                  </a:lnTo>
                  <a:lnTo>
                    <a:pt x="3275033" y="3158474"/>
                  </a:lnTo>
                  <a:lnTo>
                    <a:pt x="3248955" y="3192451"/>
                  </a:lnTo>
                  <a:lnTo>
                    <a:pt x="3211859" y="3213862"/>
                  </a:lnTo>
                  <a:lnTo>
                    <a:pt x="3190902" y="3218747"/>
                  </a:lnTo>
                  <a:lnTo>
                    <a:pt x="3183779" y="3219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52936" y="2081212"/>
              <a:ext cx="3286125" cy="3219450"/>
            </a:xfrm>
            <a:custGeom>
              <a:avLst/>
              <a:gdLst/>
              <a:ahLst/>
              <a:cxnLst/>
              <a:rect l="l" t="t" r="r" b="b"/>
              <a:pathLst>
                <a:path w="3286125" h="3219450">
                  <a:moveTo>
                    <a:pt x="0" y="31099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3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3176587" y="0"/>
                  </a:lnTo>
                  <a:lnTo>
                    <a:pt x="3183779" y="0"/>
                  </a:lnTo>
                  <a:lnTo>
                    <a:pt x="3190902" y="701"/>
                  </a:lnTo>
                  <a:lnTo>
                    <a:pt x="3197956" y="2104"/>
                  </a:lnTo>
                  <a:lnTo>
                    <a:pt x="3205010" y="3507"/>
                  </a:lnTo>
                  <a:lnTo>
                    <a:pt x="3211859" y="5585"/>
                  </a:lnTo>
                  <a:lnTo>
                    <a:pt x="3218504" y="8337"/>
                  </a:lnTo>
                  <a:lnTo>
                    <a:pt x="3225149" y="11090"/>
                  </a:lnTo>
                  <a:lnTo>
                    <a:pt x="3254041" y="32082"/>
                  </a:lnTo>
                  <a:lnTo>
                    <a:pt x="3259127" y="37168"/>
                  </a:lnTo>
                  <a:lnTo>
                    <a:pt x="3280538" y="74263"/>
                  </a:lnTo>
                  <a:lnTo>
                    <a:pt x="3284019" y="88167"/>
                  </a:lnTo>
                  <a:lnTo>
                    <a:pt x="3285422" y="95221"/>
                  </a:lnTo>
                  <a:lnTo>
                    <a:pt x="3286124" y="102345"/>
                  </a:lnTo>
                  <a:lnTo>
                    <a:pt x="3286125" y="109537"/>
                  </a:lnTo>
                  <a:lnTo>
                    <a:pt x="3286125" y="3109912"/>
                  </a:lnTo>
                  <a:lnTo>
                    <a:pt x="3277785" y="3151829"/>
                  </a:lnTo>
                  <a:lnTo>
                    <a:pt x="3254041" y="3187366"/>
                  </a:lnTo>
                  <a:lnTo>
                    <a:pt x="3248955" y="3192451"/>
                  </a:lnTo>
                  <a:lnTo>
                    <a:pt x="3211859" y="3213862"/>
                  </a:lnTo>
                  <a:lnTo>
                    <a:pt x="3197956" y="3217344"/>
                  </a:lnTo>
                  <a:lnTo>
                    <a:pt x="3190902" y="3218747"/>
                  </a:lnTo>
                  <a:lnTo>
                    <a:pt x="3183779" y="3219449"/>
                  </a:lnTo>
                  <a:lnTo>
                    <a:pt x="3176587" y="3219449"/>
                  </a:lnTo>
                  <a:lnTo>
                    <a:pt x="109537" y="3219449"/>
                  </a:lnTo>
                  <a:lnTo>
                    <a:pt x="102345" y="3219449"/>
                  </a:lnTo>
                  <a:lnTo>
                    <a:pt x="95222" y="3218747"/>
                  </a:lnTo>
                  <a:lnTo>
                    <a:pt x="88167" y="3217344"/>
                  </a:lnTo>
                  <a:lnTo>
                    <a:pt x="81113" y="3215940"/>
                  </a:lnTo>
                  <a:lnTo>
                    <a:pt x="42701" y="3196992"/>
                  </a:lnTo>
                  <a:lnTo>
                    <a:pt x="32082" y="3187366"/>
                  </a:lnTo>
                  <a:lnTo>
                    <a:pt x="26996" y="3182280"/>
                  </a:lnTo>
                  <a:lnTo>
                    <a:pt x="22455" y="3176747"/>
                  </a:lnTo>
                  <a:lnTo>
                    <a:pt x="18459" y="3170766"/>
                  </a:lnTo>
                  <a:lnTo>
                    <a:pt x="14463" y="3164786"/>
                  </a:lnTo>
                  <a:lnTo>
                    <a:pt x="11090" y="3158474"/>
                  </a:lnTo>
                  <a:lnTo>
                    <a:pt x="8337" y="3151829"/>
                  </a:lnTo>
                  <a:lnTo>
                    <a:pt x="5585" y="3145185"/>
                  </a:lnTo>
                  <a:lnTo>
                    <a:pt x="3507" y="3138335"/>
                  </a:lnTo>
                  <a:lnTo>
                    <a:pt x="2104" y="3131281"/>
                  </a:lnTo>
                  <a:lnTo>
                    <a:pt x="701" y="3124227"/>
                  </a:lnTo>
                  <a:lnTo>
                    <a:pt x="0" y="3117104"/>
                  </a:lnTo>
                  <a:lnTo>
                    <a:pt x="0" y="310991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743449" y="2914649"/>
              <a:ext cx="2705100" cy="19050"/>
            </a:xfrm>
            <a:custGeom>
              <a:avLst/>
              <a:gdLst/>
              <a:ahLst/>
              <a:cxnLst/>
              <a:rect l="l" t="t" r="r" b="b"/>
              <a:pathLst>
                <a:path w="2705100" h="19050">
                  <a:moveTo>
                    <a:pt x="27050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705099" y="0"/>
                  </a:lnTo>
                  <a:lnTo>
                    <a:pt x="2705099" y="19049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727475" y="2353859"/>
            <a:ext cx="161861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50" b="1" spc="-125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Practo </a:t>
            </a:r>
            <a:r>
              <a:rPr sz="2250" b="1" spc="160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250" b="1" spc="-100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50" b="1" spc="-204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350" b="1" spc="-204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mg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27475" y="3063980"/>
            <a:ext cx="2543175" cy="112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500" spc="-4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Shows</a:t>
            </a:r>
            <a:r>
              <a:rPr sz="1500" spc="-5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3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all</a:t>
            </a:r>
            <a:r>
              <a:rPr sz="1500" spc="-7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doctors</a:t>
            </a:r>
            <a:r>
              <a:rPr sz="145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,</a:t>
            </a:r>
            <a:r>
              <a:rPr sz="1450" spc="-9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not</a:t>
            </a:r>
            <a:r>
              <a:rPr sz="1500" spc="-7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500" spc="-7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right </a:t>
            </a:r>
            <a:r>
              <a:rPr sz="150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doctor</a:t>
            </a:r>
            <a:r>
              <a:rPr sz="145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r>
              <a:rPr sz="1450" spc="-7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3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No</a:t>
            </a:r>
            <a:r>
              <a:rPr sz="1500" spc="-7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triage</a:t>
            </a:r>
            <a:r>
              <a:rPr sz="1500" spc="-8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system</a:t>
            </a:r>
            <a:r>
              <a:rPr sz="145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endParaRPr sz="1450">
              <a:latin typeface="Microsoft Sans Serif" panose="020B0604020202020204"/>
              <a:cs typeface="Microsoft Sans Serif" panose="020B0604020202020204"/>
            </a:endParaRPr>
          </a:p>
          <a:p>
            <a:pPr marL="12700" marR="304165">
              <a:lnSpc>
                <a:spcPct val="117000"/>
              </a:lnSpc>
              <a:spcBef>
                <a:spcPts val="75"/>
              </a:spcBef>
            </a:pPr>
            <a:r>
              <a:rPr sz="1500" spc="-4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Assumes</a:t>
            </a:r>
            <a:r>
              <a:rPr sz="1500" spc="-5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1500" spc="-7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3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already</a:t>
            </a:r>
            <a:r>
              <a:rPr sz="1500" spc="-6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know </a:t>
            </a:r>
            <a:r>
              <a:rPr sz="1500" spc="-2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exactly</a:t>
            </a:r>
            <a:r>
              <a:rPr sz="1500" spc="-3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what</a:t>
            </a:r>
            <a:r>
              <a:rPr sz="145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'</a:t>
            </a:r>
            <a:r>
              <a:rPr sz="150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s</a:t>
            </a:r>
            <a:r>
              <a:rPr sz="1500" spc="-3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wrong</a:t>
            </a:r>
            <a:r>
              <a:rPr sz="145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endParaRPr sz="14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43449" y="4581524"/>
            <a:ext cx="2705100" cy="428625"/>
            <a:chOff x="4743449" y="4581524"/>
            <a:chExt cx="2705100" cy="428625"/>
          </a:xfrm>
        </p:grpSpPr>
        <p:sp>
          <p:nvSpPr>
            <p:cNvPr id="28" name="object 28"/>
            <p:cNvSpPr/>
            <p:nvPr/>
          </p:nvSpPr>
          <p:spPr>
            <a:xfrm>
              <a:off x="4743449" y="4581524"/>
              <a:ext cx="2705100" cy="428625"/>
            </a:xfrm>
            <a:custGeom>
              <a:avLst/>
              <a:gdLst/>
              <a:ahLst/>
              <a:cxnLst/>
              <a:rect l="l" t="t" r="r" b="b"/>
              <a:pathLst>
                <a:path w="2705100" h="428625">
                  <a:moveTo>
                    <a:pt x="2705099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2705099" y="0"/>
                  </a:lnTo>
                  <a:lnTo>
                    <a:pt x="2705099" y="42862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743449" y="4581524"/>
              <a:ext cx="38100" cy="428625"/>
            </a:xfrm>
            <a:custGeom>
              <a:avLst/>
              <a:gdLst/>
              <a:ahLst/>
              <a:cxnLst/>
              <a:rect l="l" t="t" r="r" b="b"/>
              <a:pathLst>
                <a:path w="38100" h="428625">
                  <a:moveTo>
                    <a:pt x="38099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28624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903787" y="4721224"/>
              <a:ext cx="174624" cy="15081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781549" y="4685304"/>
            <a:ext cx="266700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130"/>
              </a:spcBef>
            </a:pPr>
            <a:r>
              <a:rPr sz="1150" b="1" spc="-60" dirty="0">
                <a:solidFill>
                  <a:srgbClr val="BF382A"/>
                </a:solidFill>
                <a:latin typeface="Arial" panose="020B0604020202020204"/>
                <a:cs typeface="Arial" panose="020B0604020202020204"/>
              </a:rPr>
              <a:t>Lack</a:t>
            </a:r>
            <a:r>
              <a:rPr sz="1150" b="1" spc="-55" dirty="0">
                <a:solidFill>
                  <a:srgbClr val="BF382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50" b="1" spc="-20" dirty="0">
                <a:solidFill>
                  <a:srgbClr val="BF382A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150" b="1" spc="-50" dirty="0">
                <a:solidFill>
                  <a:srgbClr val="BF382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50" b="1" spc="-10" dirty="0">
                <a:solidFill>
                  <a:srgbClr val="BF382A"/>
                </a:solidFill>
                <a:latin typeface="Arial" panose="020B0604020202020204"/>
                <a:cs typeface="Arial" panose="020B0604020202020204"/>
              </a:rPr>
              <a:t>Guidance</a:t>
            </a:r>
            <a:endParaRPr sz="11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129586" y="2081212"/>
            <a:ext cx="3295650" cy="3219450"/>
            <a:chOff x="8129586" y="2081212"/>
            <a:chExt cx="3295650" cy="321945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object 34"/>
            <p:cNvSpPr/>
            <p:nvPr/>
          </p:nvSpPr>
          <p:spPr>
            <a:xfrm>
              <a:off x="8129586" y="2081212"/>
              <a:ext cx="3295650" cy="3219450"/>
            </a:xfrm>
            <a:custGeom>
              <a:avLst/>
              <a:gdLst/>
              <a:ahLst/>
              <a:cxnLst/>
              <a:rect l="l" t="t" r="r" b="b"/>
              <a:pathLst>
                <a:path w="3295650" h="3219450">
                  <a:moveTo>
                    <a:pt x="3193305" y="3219449"/>
                  </a:moveTo>
                  <a:lnTo>
                    <a:pt x="102345" y="3219449"/>
                  </a:lnTo>
                  <a:lnTo>
                    <a:pt x="95222" y="3218747"/>
                  </a:lnTo>
                  <a:lnTo>
                    <a:pt x="54661" y="3204984"/>
                  </a:lnTo>
                  <a:lnTo>
                    <a:pt x="22456" y="3176747"/>
                  </a:lnTo>
                  <a:lnTo>
                    <a:pt x="3507" y="3138335"/>
                  </a:lnTo>
                  <a:lnTo>
                    <a:pt x="0" y="3117104"/>
                  </a:lnTo>
                  <a:lnTo>
                    <a:pt x="0" y="31099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193305" y="0"/>
                  </a:lnTo>
                  <a:lnTo>
                    <a:pt x="3234673" y="11090"/>
                  </a:lnTo>
                  <a:lnTo>
                    <a:pt x="3268651" y="37168"/>
                  </a:lnTo>
                  <a:lnTo>
                    <a:pt x="3290063" y="74263"/>
                  </a:lnTo>
                  <a:lnTo>
                    <a:pt x="3295650" y="102345"/>
                  </a:lnTo>
                  <a:lnTo>
                    <a:pt x="3295650" y="3117104"/>
                  </a:lnTo>
                  <a:lnTo>
                    <a:pt x="3284559" y="3158474"/>
                  </a:lnTo>
                  <a:lnTo>
                    <a:pt x="3258480" y="3192451"/>
                  </a:lnTo>
                  <a:lnTo>
                    <a:pt x="3221385" y="3213862"/>
                  </a:lnTo>
                  <a:lnTo>
                    <a:pt x="3200428" y="3218747"/>
                  </a:lnTo>
                  <a:lnTo>
                    <a:pt x="3193305" y="3219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129586" y="2081212"/>
              <a:ext cx="3295650" cy="3219450"/>
            </a:xfrm>
            <a:custGeom>
              <a:avLst/>
              <a:gdLst/>
              <a:ahLst/>
              <a:cxnLst/>
              <a:rect l="l" t="t" r="r" b="b"/>
              <a:pathLst>
                <a:path w="3295650" h="3219450">
                  <a:moveTo>
                    <a:pt x="0" y="31099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3" y="88167"/>
                  </a:lnTo>
                  <a:lnTo>
                    <a:pt x="3506" y="81113"/>
                  </a:lnTo>
                  <a:lnTo>
                    <a:pt x="5584" y="74263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3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3186112" y="0"/>
                  </a:lnTo>
                  <a:lnTo>
                    <a:pt x="3193305" y="0"/>
                  </a:lnTo>
                  <a:lnTo>
                    <a:pt x="3200428" y="701"/>
                  </a:lnTo>
                  <a:lnTo>
                    <a:pt x="3207481" y="2104"/>
                  </a:lnTo>
                  <a:lnTo>
                    <a:pt x="3214535" y="3507"/>
                  </a:lnTo>
                  <a:lnTo>
                    <a:pt x="3252947" y="22455"/>
                  </a:lnTo>
                  <a:lnTo>
                    <a:pt x="3263566" y="32082"/>
                  </a:lnTo>
                  <a:lnTo>
                    <a:pt x="3268651" y="37168"/>
                  </a:lnTo>
                  <a:lnTo>
                    <a:pt x="3287311" y="67619"/>
                  </a:lnTo>
                  <a:lnTo>
                    <a:pt x="3290063" y="74263"/>
                  </a:lnTo>
                  <a:lnTo>
                    <a:pt x="3292141" y="81113"/>
                  </a:lnTo>
                  <a:lnTo>
                    <a:pt x="3293544" y="88167"/>
                  </a:lnTo>
                  <a:lnTo>
                    <a:pt x="3294948" y="95221"/>
                  </a:lnTo>
                  <a:lnTo>
                    <a:pt x="3295650" y="102345"/>
                  </a:lnTo>
                  <a:lnTo>
                    <a:pt x="3295650" y="109537"/>
                  </a:lnTo>
                  <a:lnTo>
                    <a:pt x="3295650" y="3109912"/>
                  </a:lnTo>
                  <a:lnTo>
                    <a:pt x="3295650" y="3117104"/>
                  </a:lnTo>
                  <a:lnTo>
                    <a:pt x="3294948" y="3124227"/>
                  </a:lnTo>
                  <a:lnTo>
                    <a:pt x="3293544" y="3131281"/>
                  </a:lnTo>
                  <a:lnTo>
                    <a:pt x="3292141" y="3138335"/>
                  </a:lnTo>
                  <a:lnTo>
                    <a:pt x="3290063" y="3145185"/>
                  </a:lnTo>
                  <a:lnTo>
                    <a:pt x="3287311" y="3151829"/>
                  </a:lnTo>
                  <a:lnTo>
                    <a:pt x="3284559" y="3158474"/>
                  </a:lnTo>
                  <a:lnTo>
                    <a:pt x="3263566" y="3187366"/>
                  </a:lnTo>
                  <a:lnTo>
                    <a:pt x="3258480" y="3192451"/>
                  </a:lnTo>
                  <a:lnTo>
                    <a:pt x="3252947" y="3196992"/>
                  </a:lnTo>
                  <a:lnTo>
                    <a:pt x="3246966" y="3200988"/>
                  </a:lnTo>
                  <a:lnTo>
                    <a:pt x="3240986" y="3204984"/>
                  </a:lnTo>
                  <a:lnTo>
                    <a:pt x="3207481" y="3217344"/>
                  </a:lnTo>
                  <a:lnTo>
                    <a:pt x="3200428" y="3218747"/>
                  </a:lnTo>
                  <a:lnTo>
                    <a:pt x="3193305" y="3219449"/>
                  </a:lnTo>
                  <a:lnTo>
                    <a:pt x="3186112" y="3219449"/>
                  </a:lnTo>
                  <a:lnTo>
                    <a:pt x="109538" y="3219449"/>
                  </a:lnTo>
                  <a:lnTo>
                    <a:pt x="102345" y="3219449"/>
                  </a:lnTo>
                  <a:lnTo>
                    <a:pt x="95222" y="3218747"/>
                  </a:lnTo>
                  <a:lnTo>
                    <a:pt x="88168" y="3217344"/>
                  </a:lnTo>
                  <a:lnTo>
                    <a:pt x="81113" y="3215940"/>
                  </a:lnTo>
                  <a:lnTo>
                    <a:pt x="74263" y="3213862"/>
                  </a:lnTo>
                  <a:lnTo>
                    <a:pt x="67618" y="3211110"/>
                  </a:lnTo>
                  <a:lnTo>
                    <a:pt x="60973" y="3208358"/>
                  </a:lnTo>
                  <a:lnTo>
                    <a:pt x="32082" y="3187366"/>
                  </a:lnTo>
                  <a:lnTo>
                    <a:pt x="26997" y="3182280"/>
                  </a:lnTo>
                  <a:lnTo>
                    <a:pt x="22456" y="3176747"/>
                  </a:lnTo>
                  <a:lnTo>
                    <a:pt x="18460" y="3170766"/>
                  </a:lnTo>
                  <a:lnTo>
                    <a:pt x="14464" y="3164786"/>
                  </a:lnTo>
                  <a:lnTo>
                    <a:pt x="11090" y="3158474"/>
                  </a:lnTo>
                  <a:lnTo>
                    <a:pt x="8337" y="3151829"/>
                  </a:lnTo>
                  <a:lnTo>
                    <a:pt x="5584" y="3145185"/>
                  </a:lnTo>
                  <a:lnTo>
                    <a:pt x="3507" y="3138335"/>
                  </a:lnTo>
                  <a:lnTo>
                    <a:pt x="2104" y="3131281"/>
                  </a:lnTo>
                  <a:lnTo>
                    <a:pt x="701" y="3124227"/>
                  </a:lnTo>
                  <a:lnTo>
                    <a:pt x="0" y="3117104"/>
                  </a:lnTo>
                  <a:lnTo>
                    <a:pt x="0" y="310991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420098" y="2914649"/>
              <a:ext cx="2714625" cy="19050"/>
            </a:xfrm>
            <a:custGeom>
              <a:avLst/>
              <a:gdLst/>
              <a:ahLst/>
              <a:cxnLst/>
              <a:rect l="l" t="t" r="r" b="b"/>
              <a:pathLst>
                <a:path w="2714625" h="19050">
                  <a:moveTo>
                    <a:pt x="27146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714624" y="0"/>
                  </a:lnTo>
                  <a:lnTo>
                    <a:pt x="2714624" y="19049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8410525" y="2353859"/>
            <a:ext cx="226631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50" b="1" spc="-170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Going</a:t>
            </a:r>
            <a:r>
              <a:rPr sz="2350" b="1" spc="-120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50" b="1" spc="-130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350" b="1" spc="-120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50" b="1" spc="-105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50" b="1" spc="-114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50" b="1" spc="-105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Doctor</a:t>
            </a:r>
            <a:endParaRPr sz="2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410525" y="3056490"/>
            <a:ext cx="2540000" cy="11283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30"/>
              </a:spcBef>
            </a:pPr>
            <a:r>
              <a:rPr sz="1500" spc="-3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Costs</a:t>
            </a:r>
            <a:r>
              <a:rPr sz="1500" spc="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5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₹</a:t>
            </a:r>
            <a:r>
              <a:rPr sz="145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300–</a:t>
            </a:r>
            <a:r>
              <a:rPr sz="155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₹</a:t>
            </a:r>
            <a:r>
              <a:rPr sz="145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800</a:t>
            </a:r>
            <a:r>
              <a:rPr sz="1450" spc="2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4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even</a:t>
            </a:r>
            <a:r>
              <a:rPr sz="1500" spc="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1500" spc="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9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1500" spc="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450" spc="-2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5- </a:t>
            </a:r>
            <a:r>
              <a:rPr sz="1500" spc="-3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minute</a:t>
            </a:r>
            <a:r>
              <a:rPr sz="1500" spc="-5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consultation</a:t>
            </a:r>
            <a:r>
              <a:rPr sz="1450" spc="-2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r>
              <a:rPr sz="1450" spc="-4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Often </a:t>
            </a:r>
            <a:r>
              <a:rPr sz="1500" spc="-3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inaccessible</a:t>
            </a:r>
            <a:r>
              <a:rPr sz="1500" spc="-1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1500" spc="-1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daily</a:t>
            </a:r>
            <a:r>
              <a:rPr sz="1500" spc="-15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wage </a:t>
            </a:r>
            <a:r>
              <a:rPr sz="150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earners</a:t>
            </a:r>
            <a:r>
              <a:rPr sz="1450" spc="-10" dirty="0">
                <a:solidFill>
                  <a:srgbClr val="444444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endParaRPr sz="14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420099" y="4581524"/>
            <a:ext cx="2714625" cy="428625"/>
            <a:chOff x="8420099" y="4581524"/>
            <a:chExt cx="2714625" cy="428625"/>
          </a:xfrm>
        </p:grpSpPr>
        <p:sp>
          <p:nvSpPr>
            <p:cNvPr id="40" name="object 40"/>
            <p:cNvSpPr/>
            <p:nvPr/>
          </p:nvSpPr>
          <p:spPr>
            <a:xfrm>
              <a:off x="8420099" y="4581524"/>
              <a:ext cx="2714625" cy="428625"/>
            </a:xfrm>
            <a:custGeom>
              <a:avLst/>
              <a:gdLst/>
              <a:ahLst/>
              <a:cxnLst/>
              <a:rect l="l" t="t" r="r" b="b"/>
              <a:pathLst>
                <a:path w="2714625" h="428625">
                  <a:moveTo>
                    <a:pt x="2714624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2714624" y="0"/>
                  </a:lnTo>
                  <a:lnTo>
                    <a:pt x="2714624" y="42862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420099" y="4581524"/>
              <a:ext cx="38100" cy="428625"/>
            </a:xfrm>
            <a:custGeom>
              <a:avLst/>
              <a:gdLst/>
              <a:ahLst/>
              <a:cxnLst/>
              <a:rect l="l" t="t" r="r" b="b"/>
              <a:pathLst>
                <a:path w="38100" h="428625">
                  <a:moveTo>
                    <a:pt x="38099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28624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580437" y="4721224"/>
              <a:ext cx="174624" cy="150812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8458199" y="4685304"/>
            <a:ext cx="267652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130"/>
              </a:spcBef>
            </a:pPr>
            <a:r>
              <a:rPr sz="1150" b="1" spc="-50" dirty="0">
                <a:solidFill>
                  <a:srgbClr val="BF382A"/>
                </a:solidFill>
                <a:latin typeface="Arial" panose="020B0604020202020204"/>
                <a:cs typeface="Arial" panose="020B0604020202020204"/>
              </a:rPr>
              <a:t>High</a:t>
            </a:r>
            <a:r>
              <a:rPr sz="1150" b="1" spc="-30" dirty="0">
                <a:solidFill>
                  <a:srgbClr val="BF382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50" b="1" spc="-55" dirty="0">
                <a:solidFill>
                  <a:srgbClr val="BF382A"/>
                </a:solidFill>
                <a:latin typeface="Arial" panose="020B0604020202020204"/>
                <a:cs typeface="Arial" panose="020B0604020202020204"/>
              </a:rPr>
              <a:t>Financial</a:t>
            </a:r>
            <a:r>
              <a:rPr sz="1150" b="1" spc="-30" dirty="0">
                <a:solidFill>
                  <a:srgbClr val="BF382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50" b="1" spc="-10" dirty="0">
                <a:solidFill>
                  <a:srgbClr val="BF382A"/>
                </a:solidFill>
                <a:latin typeface="Arial" panose="020B0604020202020204"/>
                <a:cs typeface="Arial" panose="020B0604020202020204"/>
              </a:rPr>
              <a:t>Barrier</a:t>
            </a:r>
            <a:endParaRPr sz="11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00487" y="575561"/>
            <a:ext cx="3610610" cy="920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850" spc="-254" dirty="0">
                <a:solidFill>
                  <a:srgbClr val="008080"/>
                </a:solidFill>
              </a:rPr>
              <a:t>Aarogya</a:t>
            </a:r>
            <a:r>
              <a:rPr sz="5850" spc="-710" dirty="0">
                <a:solidFill>
                  <a:srgbClr val="008080"/>
                </a:solidFill>
              </a:rPr>
              <a:t> </a:t>
            </a:r>
            <a:r>
              <a:rPr sz="5850" spc="-60" dirty="0">
                <a:solidFill>
                  <a:srgbClr val="008080"/>
                </a:solidFill>
              </a:rPr>
              <a:t>AI</a:t>
            </a:r>
            <a:endParaRPr sz="5850" dirty="0"/>
          </a:p>
        </p:txBody>
      </p:sp>
      <p:sp>
        <p:nvSpPr>
          <p:cNvPr id="6" name="object 6"/>
          <p:cNvSpPr txBox="1"/>
          <p:nvPr/>
        </p:nvSpPr>
        <p:spPr>
          <a:xfrm>
            <a:off x="2486273" y="1650603"/>
            <a:ext cx="7219950" cy="7670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602230" marR="5080" indent="-2590165">
              <a:lnSpc>
                <a:spcPct val="102000"/>
              </a:lnSpc>
              <a:spcBef>
                <a:spcPts val="80"/>
              </a:spcBef>
            </a:pPr>
            <a:r>
              <a:rPr sz="23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India</a:t>
            </a:r>
            <a:r>
              <a:rPr sz="24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'</a:t>
            </a:r>
            <a:r>
              <a:rPr sz="23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s</a:t>
            </a:r>
            <a:r>
              <a:rPr sz="2300" spc="-7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first</a:t>
            </a:r>
            <a:r>
              <a:rPr sz="2300" spc="-7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5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two</a:t>
            </a:r>
            <a:r>
              <a:rPr sz="2400" spc="5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-</a:t>
            </a:r>
            <a:r>
              <a:rPr sz="23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sided</a:t>
            </a:r>
            <a:r>
              <a:rPr sz="2300" spc="-7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health</a:t>
            </a:r>
            <a:r>
              <a:rPr sz="2300" spc="-7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intelligence</a:t>
            </a:r>
            <a:r>
              <a:rPr sz="2300" spc="-7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platform</a:t>
            </a:r>
            <a:r>
              <a:rPr sz="2300" spc="-7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400" spc="70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—</a:t>
            </a:r>
            <a:r>
              <a:rPr sz="2400" spc="-1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built </a:t>
            </a:r>
            <a:r>
              <a:rPr sz="23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2300" spc="-6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2300" spc="-6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last</a:t>
            </a:r>
            <a:r>
              <a:rPr sz="2300" spc="-6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mile</a:t>
            </a:r>
            <a:r>
              <a:rPr sz="2400" spc="-1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endParaRPr sz="240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663" y="2703575"/>
            <a:ext cx="11472670" cy="32887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80008" y="4082242"/>
            <a:ext cx="2466340" cy="8807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850" b="1" spc="-95" dirty="0">
                <a:solidFill>
                  <a:srgbClr val="00695C"/>
                </a:solidFill>
                <a:latin typeface="Arial" panose="020B0604020202020204"/>
                <a:cs typeface="Arial" panose="020B0604020202020204"/>
              </a:rPr>
              <a:t>Symptom</a:t>
            </a:r>
            <a:r>
              <a:rPr sz="1850" b="1" spc="-105" dirty="0">
                <a:solidFill>
                  <a:srgbClr val="0069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0695C"/>
                </a:solidFill>
                <a:latin typeface="Arial" panose="020B0604020202020204"/>
                <a:cs typeface="Arial" panose="020B0604020202020204"/>
              </a:rPr>
              <a:t>Triage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 marR="5080" algn="ctr">
              <a:lnSpc>
                <a:spcPct val="111000"/>
              </a:lnSpc>
              <a:spcBef>
                <a:spcPts val="875"/>
              </a:spcBef>
            </a:pPr>
            <a:r>
              <a:rPr sz="1300" spc="-3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Tell</a:t>
            </a:r>
            <a:r>
              <a:rPr sz="1300" spc="-6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us</a:t>
            </a:r>
            <a:r>
              <a:rPr sz="1300" spc="-3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how</a:t>
            </a:r>
            <a:r>
              <a:rPr sz="1300" spc="-35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1300" spc="-3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feel</a:t>
            </a:r>
            <a:r>
              <a:rPr sz="1350" dirty="0">
                <a:solidFill>
                  <a:srgbClr val="545454"/>
                </a:solidFill>
                <a:latin typeface="Javanese Text" panose="02000000000000000000"/>
                <a:cs typeface="Javanese Text" panose="02000000000000000000"/>
              </a:rPr>
              <a:t>.</a:t>
            </a:r>
            <a:r>
              <a:rPr sz="1350" spc="-40" dirty="0">
                <a:solidFill>
                  <a:srgbClr val="545454"/>
                </a:solidFill>
                <a:latin typeface="Javanese Text" panose="02000000000000000000"/>
                <a:cs typeface="Javanese Text" panose="02000000000000000000"/>
              </a:rPr>
              <a:t> </a:t>
            </a:r>
            <a:r>
              <a:rPr sz="1300" spc="-8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We</a:t>
            </a:r>
            <a:r>
              <a:rPr sz="1300" spc="-1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tell</a:t>
            </a:r>
            <a:r>
              <a:rPr sz="1300" spc="-3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1300" spc="-35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if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you</a:t>
            </a:r>
            <a:r>
              <a:rPr sz="1300" spc="-5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need</a:t>
            </a:r>
            <a:r>
              <a:rPr sz="1300" spc="-5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1300" spc="-45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doctor</a:t>
            </a:r>
            <a:r>
              <a:rPr sz="1350" spc="-10" dirty="0">
                <a:solidFill>
                  <a:srgbClr val="545454"/>
                </a:solidFill>
                <a:latin typeface="Javanese Text" panose="02000000000000000000"/>
                <a:cs typeface="Javanese Text" panose="02000000000000000000"/>
              </a:rPr>
              <a:t>.</a:t>
            </a:r>
            <a:endParaRPr sz="1350">
              <a:latin typeface="Javanese Text" panose="02000000000000000000"/>
              <a:cs typeface="Javanese Text" panose="020000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61259" y="4082242"/>
            <a:ext cx="2669540" cy="8807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850" b="1" spc="-90" dirty="0">
                <a:solidFill>
                  <a:srgbClr val="00695C"/>
                </a:solidFill>
                <a:latin typeface="Arial" panose="020B0604020202020204"/>
                <a:cs typeface="Arial" panose="020B0604020202020204"/>
              </a:rPr>
              <a:t>Doctor</a:t>
            </a:r>
            <a:r>
              <a:rPr sz="1850" b="1" spc="-100" dirty="0">
                <a:solidFill>
                  <a:srgbClr val="0069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0695C"/>
                </a:solidFill>
                <a:latin typeface="Arial" panose="020B0604020202020204"/>
                <a:cs typeface="Arial" panose="020B0604020202020204"/>
              </a:rPr>
              <a:t>Discovery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 marR="5080" algn="ctr">
              <a:lnSpc>
                <a:spcPct val="111000"/>
              </a:lnSpc>
              <a:spcBef>
                <a:spcPts val="875"/>
              </a:spcBef>
            </a:pPr>
            <a:r>
              <a:rPr sz="1300" spc="-1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Find</a:t>
            </a:r>
            <a:r>
              <a:rPr sz="1300" spc="-4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300" spc="-35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right</a:t>
            </a:r>
            <a:r>
              <a:rPr sz="1300" spc="-4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specialist</a:t>
            </a:r>
            <a:r>
              <a:rPr sz="1300" spc="-35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nearby</a:t>
            </a:r>
            <a:r>
              <a:rPr sz="1300" spc="-35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50" dirty="0">
                <a:solidFill>
                  <a:srgbClr val="545454"/>
                </a:solidFill>
                <a:latin typeface="Javanese Text" panose="02000000000000000000"/>
                <a:cs typeface="Javanese Text" panose="02000000000000000000"/>
              </a:rPr>
              <a:t>—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sorted</a:t>
            </a:r>
            <a:r>
              <a:rPr sz="1300" spc="-1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by</a:t>
            </a:r>
            <a:r>
              <a:rPr sz="1300" spc="-1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distance</a:t>
            </a:r>
            <a:r>
              <a:rPr sz="1350" spc="-10" dirty="0">
                <a:solidFill>
                  <a:srgbClr val="545454"/>
                </a:solidFill>
                <a:latin typeface="Javanese Text" panose="02000000000000000000"/>
                <a:cs typeface="Javanese Text" panose="02000000000000000000"/>
              </a:rPr>
              <a:t>,</a:t>
            </a:r>
            <a:r>
              <a:rPr sz="1350" spc="-15" dirty="0">
                <a:solidFill>
                  <a:srgbClr val="545454"/>
                </a:solidFill>
                <a:latin typeface="Javanese Text" panose="02000000000000000000"/>
                <a:cs typeface="Javanese Text" panose="02000000000000000000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price</a:t>
            </a:r>
            <a:r>
              <a:rPr sz="1350" dirty="0">
                <a:solidFill>
                  <a:srgbClr val="545454"/>
                </a:solidFill>
                <a:latin typeface="Javanese Text" panose="02000000000000000000"/>
                <a:cs typeface="Javanese Text" panose="02000000000000000000"/>
              </a:rPr>
              <a:t>,</a:t>
            </a:r>
            <a:r>
              <a:rPr sz="1350" spc="-15" dirty="0">
                <a:solidFill>
                  <a:srgbClr val="545454"/>
                </a:solidFill>
                <a:latin typeface="Javanese Text" panose="02000000000000000000"/>
                <a:cs typeface="Javanese Text" panose="02000000000000000000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and</a:t>
            </a:r>
            <a:r>
              <a:rPr sz="1300" spc="-1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rating</a:t>
            </a:r>
            <a:r>
              <a:rPr sz="1350" spc="-25" dirty="0">
                <a:solidFill>
                  <a:srgbClr val="545454"/>
                </a:solidFill>
                <a:latin typeface="Javanese Text" panose="02000000000000000000"/>
                <a:cs typeface="Javanese Text" panose="02000000000000000000"/>
              </a:rPr>
              <a:t>.</a:t>
            </a:r>
            <a:endParaRPr sz="1350">
              <a:latin typeface="Javanese Text" panose="02000000000000000000"/>
              <a:cs typeface="Javanese Text" panose="020000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03989" y="4082242"/>
            <a:ext cx="2550795" cy="11093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850" b="1" spc="-80" dirty="0">
                <a:solidFill>
                  <a:srgbClr val="00695C"/>
                </a:solidFill>
                <a:latin typeface="Arial" panose="020B0604020202020204"/>
                <a:cs typeface="Arial" panose="020B0604020202020204"/>
              </a:rPr>
              <a:t>Community</a:t>
            </a:r>
            <a:r>
              <a:rPr sz="1850" b="1" spc="-95" dirty="0">
                <a:solidFill>
                  <a:srgbClr val="00695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0695C"/>
                </a:solidFill>
                <a:latin typeface="Arial" panose="020B0604020202020204"/>
                <a:cs typeface="Arial" panose="020B0604020202020204"/>
              </a:rPr>
              <a:t>Health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 marR="5080" algn="ctr">
              <a:lnSpc>
                <a:spcPct val="114000"/>
              </a:lnSpc>
              <a:spcBef>
                <a:spcPts val="890"/>
              </a:spcBef>
            </a:pP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Aggregated</a:t>
            </a:r>
            <a:r>
              <a:rPr sz="1300" spc="-75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anonymous</a:t>
            </a:r>
            <a:r>
              <a:rPr sz="1300" spc="-7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1300" spc="-7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25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alerts </a:t>
            </a:r>
            <a:r>
              <a:rPr sz="1300" spc="-55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ASHA</a:t>
            </a:r>
            <a:r>
              <a:rPr sz="1300" spc="-25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workers</a:t>
            </a:r>
            <a:r>
              <a:rPr sz="1300" spc="-2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about</a:t>
            </a:r>
            <a:r>
              <a:rPr sz="1300" spc="-2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545454"/>
                </a:solidFill>
                <a:latin typeface="Microsoft Sans Serif" panose="020B0604020202020204"/>
                <a:cs typeface="Microsoft Sans Serif" panose="020B0604020202020204"/>
              </a:rPr>
              <a:t>disease outbreaks</a:t>
            </a:r>
            <a:r>
              <a:rPr sz="1350" spc="-10" dirty="0">
                <a:solidFill>
                  <a:srgbClr val="545454"/>
                </a:solidFill>
                <a:latin typeface="Javanese Text" panose="02000000000000000000"/>
                <a:cs typeface="Javanese Text" panose="02000000000000000000"/>
              </a:rPr>
              <a:t>.</a:t>
            </a:r>
            <a:endParaRPr sz="1350">
              <a:latin typeface="Javanese Text" panose="02000000000000000000"/>
              <a:cs typeface="Javanese Text" panose="0200000000000000000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1999" y="5857874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10667999" y="9524"/>
                </a:moveTo>
                <a:lnTo>
                  <a:pt x="0" y="9524"/>
                </a:lnTo>
                <a:lnTo>
                  <a:pt x="0" y="0"/>
                </a:lnTo>
                <a:lnTo>
                  <a:pt x="10667999" y="0"/>
                </a:lnTo>
                <a:lnTo>
                  <a:pt x="10667999" y="9524"/>
                </a:lnTo>
                <a:close/>
              </a:path>
            </a:pathLst>
          </a:custGeom>
          <a:solidFill>
            <a:srgbClr val="008080">
              <a:alpha val="15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414960" y="6040437"/>
            <a:ext cx="536194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Built</a:t>
            </a:r>
            <a:r>
              <a:rPr sz="1300" spc="-4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on</a:t>
            </a:r>
            <a:r>
              <a:rPr sz="1300" spc="-4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2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RapidMiner</a:t>
            </a:r>
            <a:r>
              <a:rPr sz="1300" spc="-4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AI</a:t>
            </a:r>
            <a:r>
              <a:rPr sz="1300" spc="-4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Studio</a:t>
            </a:r>
            <a:r>
              <a:rPr sz="1300" spc="-4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+</a:t>
            </a:r>
            <a:r>
              <a:rPr sz="1350" spc="-5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Mendix</a:t>
            </a:r>
            <a:r>
              <a:rPr sz="135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r>
              <a:rPr sz="1350" spc="-5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2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Powered</a:t>
            </a:r>
            <a:r>
              <a:rPr sz="1300" spc="-4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by</a:t>
            </a:r>
            <a:r>
              <a:rPr sz="1300" spc="-45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real</a:t>
            </a:r>
            <a:r>
              <a:rPr sz="1300" spc="-4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India</a:t>
            </a:r>
            <a:r>
              <a:rPr sz="1300" spc="-4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health</a:t>
            </a:r>
            <a:r>
              <a:rPr sz="1300" spc="-4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2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1350" spc="-20" dirty="0">
                <a:solidFill>
                  <a:srgbClr val="004D40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8505" y="376680"/>
            <a:ext cx="3875404" cy="473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00" spc="-85" dirty="0">
                <a:solidFill>
                  <a:srgbClr val="003366"/>
                </a:solidFill>
              </a:rPr>
              <a:t>How</a:t>
            </a:r>
            <a:r>
              <a:rPr sz="2900" spc="-150" dirty="0">
                <a:solidFill>
                  <a:srgbClr val="003366"/>
                </a:solidFill>
              </a:rPr>
              <a:t> </a:t>
            </a:r>
            <a:r>
              <a:rPr sz="2900" spc="-75" dirty="0">
                <a:solidFill>
                  <a:srgbClr val="003366"/>
                </a:solidFill>
              </a:rPr>
              <a:t>Aarogya</a:t>
            </a:r>
            <a:r>
              <a:rPr sz="2900" spc="-150" dirty="0">
                <a:solidFill>
                  <a:srgbClr val="003366"/>
                </a:solidFill>
              </a:rPr>
              <a:t> </a:t>
            </a:r>
            <a:r>
              <a:rPr sz="2900" spc="-75" dirty="0">
                <a:solidFill>
                  <a:srgbClr val="003366"/>
                </a:solidFill>
              </a:rPr>
              <a:t>AI</a:t>
            </a:r>
            <a:r>
              <a:rPr sz="2900" spc="-150" dirty="0">
                <a:solidFill>
                  <a:srgbClr val="003366"/>
                </a:solidFill>
              </a:rPr>
              <a:t> </a:t>
            </a:r>
            <a:r>
              <a:rPr sz="2900" spc="-40" dirty="0">
                <a:solidFill>
                  <a:srgbClr val="003366"/>
                </a:solidFill>
              </a:rPr>
              <a:t>Works</a:t>
            </a:r>
            <a:endParaRPr sz="2900"/>
          </a:p>
        </p:txBody>
      </p:sp>
      <p:sp>
        <p:nvSpPr>
          <p:cNvPr id="4" name="object 4"/>
          <p:cNvSpPr txBox="1"/>
          <p:nvPr/>
        </p:nvSpPr>
        <p:spPr>
          <a:xfrm>
            <a:off x="2280294" y="1518184"/>
            <a:ext cx="87566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65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1500" b="1" spc="-80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55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Input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86474" y="2419349"/>
            <a:ext cx="2024063" cy="1033463"/>
            <a:chOff x="6086474" y="2419349"/>
            <a:chExt cx="2024063" cy="1033463"/>
          </a:xfrm>
        </p:grpSpPr>
        <p:sp>
          <p:nvSpPr>
            <p:cNvPr id="6" name="object 6"/>
            <p:cNvSpPr/>
            <p:nvPr/>
          </p:nvSpPr>
          <p:spPr>
            <a:xfrm>
              <a:off x="6086474" y="2419349"/>
              <a:ext cx="19050" cy="285750"/>
            </a:xfrm>
            <a:custGeom>
              <a:avLst/>
              <a:gdLst/>
              <a:ahLst/>
              <a:cxnLst/>
              <a:rect l="l" t="t" r="r" b="b"/>
              <a:pathLst>
                <a:path w="19050" h="285750">
                  <a:moveTo>
                    <a:pt x="1904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285749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148387" y="2757487"/>
              <a:ext cx="1962150" cy="695325"/>
            </a:xfrm>
            <a:custGeom>
              <a:avLst/>
              <a:gdLst/>
              <a:ahLst/>
              <a:cxnLst/>
              <a:rect l="l" t="t" r="r" b="b"/>
              <a:pathLst>
                <a:path w="1962150" h="695325">
                  <a:moveTo>
                    <a:pt x="1895402" y="695324"/>
                  </a:moveTo>
                  <a:lnTo>
                    <a:pt x="66746" y="695324"/>
                  </a:lnTo>
                  <a:lnTo>
                    <a:pt x="62100" y="694867"/>
                  </a:lnTo>
                  <a:lnTo>
                    <a:pt x="24239" y="677717"/>
                  </a:lnTo>
                  <a:lnTo>
                    <a:pt x="2287" y="642424"/>
                  </a:lnTo>
                  <a:lnTo>
                    <a:pt x="0" y="628578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1" y="3642"/>
                  </a:lnTo>
                  <a:lnTo>
                    <a:pt x="66746" y="0"/>
                  </a:lnTo>
                  <a:lnTo>
                    <a:pt x="1895402" y="0"/>
                  </a:lnTo>
                  <a:lnTo>
                    <a:pt x="1934300" y="14645"/>
                  </a:lnTo>
                  <a:lnTo>
                    <a:pt x="1958505" y="48432"/>
                  </a:lnTo>
                  <a:lnTo>
                    <a:pt x="1962149" y="66746"/>
                  </a:lnTo>
                  <a:lnTo>
                    <a:pt x="1962149" y="628578"/>
                  </a:lnTo>
                  <a:lnTo>
                    <a:pt x="1947503" y="667475"/>
                  </a:lnTo>
                  <a:lnTo>
                    <a:pt x="1913716" y="691681"/>
                  </a:lnTo>
                  <a:lnTo>
                    <a:pt x="1900048" y="694867"/>
                  </a:lnTo>
                  <a:lnTo>
                    <a:pt x="1895402" y="695324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48387" y="2757487"/>
              <a:ext cx="1962150" cy="695325"/>
            </a:xfrm>
            <a:custGeom>
              <a:avLst/>
              <a:gdLst/>
              <a:ahLst/>
              <a:cxnLst/>
              <a:rect l="l" t="t" r="r" b="b"/>
              <a:pathLst>
                <a:path w="1962150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27848" y="14645"/>
                  </a:lnTo>
                  <a:lnTo>
                    <a:pt x="31748" y="12038"/>
                  </a:lnTo>
                  <a:lnTo>
                    <a:pt x="35648" y="9432"/>
                  </a:lnTo>
                  <a:lnTo>
                    <a:pt x="57499" y="1372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890712" y="0"/>
                  </a:lnTo>
                  <a:lnTo>
                    <a:pt x="1895402" y="0"/>
                  </a:lnTo>
                  <a:lnTo>
                    <a:pt x="1900048" y="457"/>
                  </a:lnTo>
                  <a:lnTo>
                    <a:pt x="1904649" y="1372"/>
                  </a:lnTo>
                  <a:lnTo>
                    <a:pt x="1909249" y="2287"/>
                  </a:lnTo>
                  <a:lnTo>
                    <a:pt x="1941226" y="20923"/>
                  </a:lnTo>
                  <a:lnTo>
                    <a:pt x="1944542" y="24240"/>
                  </a:lnTo>
                  <a:lnTo>
                    <a:pt x="1960776" y="57500"/>
                  </a:lnTo>
                  <a:lnTo>
                    <a:pt x="1961691" y="62101"/>
                  </a:lnTo>
                  <a:lnTo>
                    <a:pt x="1962149" y="66746"/>
                  </a:lnTo>
                  <a:lnTo>
                    <a:pt x="1962149" y="71437"/>
                  </a:lnTo>
                  <a:lnTo>
                    <a:pt x="1962149" y="623887"/>
                  </a:lnTo>
                  <a:lnTo>
                    <a:pt x="1950109" y="663575"/>
                  </a:lnTo>
                  <a:lnTo>
                    <a:pt x="1947503" y="667475"/>
                  </a:lnTo>
                  <a:lnTo>
                    <a:pt x="1944542" y="671084"/>
                  </a:lnTo>
                  <a:lnTo>
                    <a:pt x="1941226" y="674400"/>
                  </a:lnTo>
                  <a:lnTo>
                    <a:pt x="1937909" y="677717"/>
                  </a:lnTo>
                  <a:lnTo>
                    <a:pt x="1904649" y="693951"/>
                  </a:lnTo>
                  <a:lnTo>
                    <a:pt x="1900048" y="694867"/>
                  </a:lnTo>
                  <a:lnTo>
                    <a:pt x="1895402" y="695324"/>
                  </a:lnTo>
                  <a:lnTo>
                    <a:pt x="1890712" y="695324"/>
                  </a:lnTo>
                  <a:lnTo>
                    <a:pt x="71437" y="695324"/>
                  </a:lnTo>
                  <a:lnTo>
                    <a:pt x="66746" y="695324"/>
                  </a:lnTo>
                  <a:lnTo>
                    <a:pt x="62100" y="694867"/>
                  </a:lnTo>
                  <a:lnTo>
                    <a:pt x="57499" y="693952"/>
                  </a:lnTo>
                  <a:lnTo>
                    <a:pt x="52899" y="693036"/>
                  </a:lnTo>
                  <a:lnTo>
                    <a:pt x="31748" y="683284"/>
                  </a:lnTo>
                  <a:lnTo>
                    <a:pt x="27848" y="680679"/>
                  </a:lnTo>
                  <a:lnTo>
                    <a:pt x="24239" y="677717"/>
                  </a:lnTo>
                  <a:lnTo>
                    <a:pt x="20923" y="674400"/>
                  </a:lnTo>
                  <a:lnTo>
                    <a:pt x="17606" y="671084"/>
                  </a:lnTo>
                  <a:lnTo>
                    <a:pt x="14644" y="667475"/>
                  </a:lnTo>
                  <a:lnTo>
                    <a:pt x="12038" y="663575"/>
                  </a:lnTo>
                  <a:lnTo>
                    <a:pt x="9431" y="659675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8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D8B4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969392" y="2807228"/>
            <a:ext cx="1186815" cy="53975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500" b="1" spc="-80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RapidMiner</a:t>
            </a:r>
            <a:r>
              <a:rPr sz="1500" b="1" spc="-50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25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AI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606425">
              <a:lnSpc>
                <a:spcPct val="100000"/>
              </a:lnSpc>
              <a:spcBef>
                <a:spcPts val="225"/>
              </a:spcBef>
            </a:pPr>
            <a:r>
              <a:rPr sz="1500" b="1" spc="-85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Engine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91012" y="3848100"/>
            <a:ext cx="1814513" cy="1052512"/>
            <a:chOff x="4291012" y="3848100"/>
            <a:chExt cx="1814513" cy="1052512"/>
          </a:xfrm>
        </p:grpSpPr>
        <p:sp>
          <p:nvSpPr>
            <p:cNvPr id="12" name="object 12"/>
            <p:cNvSpPr/>
            <p:nvPr/>
          </p:nvSpPr>
          <p:spPr>
            <a:xfrm>
              <a:off x="6086475" y="3848100"/>
              <a:ext cx="19050" cy="285750"/>
            </a:xfrm>
            <a:custGeom>
              <a:avLst/>
              <a:gdLst/>
              <a:ahLst/>
              <a:cxnLst/>
              <a:rect l="l" t="t" r="r" b="b"/>
              <a:pathLst>
                <a:path w="19050" h="285750">
                  <a:moveTo>
                    <a:pt x="1904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285749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291012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638227" y="695324"/>
                  </a:moveTo>
                  <a:lnTo>
                    <a:pt x="66747" y="695324"/>
                  </a:lnTo>
                  <a:lnTo>
                    <a:pt x="62101" y="694867"/>
                  </a:lnTo>
                  <a:lnTo>
                    <a:pt x="24240" y="677717"/>
                  </a:lnTo>
                  <a:lnTo>
                    <a:pt x="2287" y="642424"/>
                  </a:lnTo>
                  <a:lnTo>
                    <a:pt x="0" y="628577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638227" y="0"/>
                  </a:lnTo>
                  <a:lnTo>
                    <a:pt x="1677126" y="14645"/>
                  </a:lnTo>
                  <a:lnTo>
                    <a:pt x="1701332" y="48432"/>
                  </a:lnTo>
                  <a:lnTo>
                    <a:pt x="1704974" y="66746"/>
                  </a:lnTo>
                  <a:lnTo>
                    <a:pt x="1704974" y="628577"/>
                  </a:lnTo>
                  <a:lnTo>
                    <a:pt x="1690329" y="667474"/>
                  </a:lnTo>
                  <a:lnTo>
                    <a:pt x="1656541" y="691680"/>
                  </a:lnTo>
                  <a:lnTo>
                    <a:pt x="1642873" y="694867"/>
                  </a:lnTo>
                  <a:lnTo>
                    <a:pt x="1638227" y="695324"/>
                  </a:lnTo>
                  <a:close/>
                </a:path>
              </a:pathLst>
            </a:custGeom>
            <a:solidFill>
              <a:srgbClr val="DF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291012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31749" y="12038"/>
                  </a:lnTo>
                  <a:lnTo>
                    <a:pt x="35649" y="9432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1633537" y="0"/>
                  </a:lnTo>
                  <a:lnTo>
                    <a:pt x="1638227" y="0"/>
                  </a:lnTo>
                  <a:lnTo>
                    <a:pt x="1642873" y="457"/>
                  </a:lnTo>
                  <a:lnTo>
                    <a:pt x="1680734" y="17606"/>
                  </a:lnTo>
                  <a:lnTo>
                    <a:pt x="1684051" y="20923"/>
                  </a:lnTo>
                  <a:lnTo>
                    <a:pt x="1687368" y="24239"/>
                  </a:lnTo>
                  <a:lnTo>
                    <a:pt x="1704516" y="62101"/>
                  </a:lnTo>
                  <a:lnTo>
                    <a:pt x="1704975" y="71437"/>
                  </a:lnTo>
                  <a:lnTo>
                    <a:pt x="1704975" y="623887"/>
                  </a:lnTo>
                  <a:lnTo>
                    <a:pt x="1692935" y="663574"/>
                  </a:lnTo>
                  <a:lnTo>
                    <a:pt x="1660875" y="689886"/>
                  </a:lnTo>
                  <a:lnTo>
                    <a:pt x="1647473" y="693951"/>
                  </a:lnTo>
                  <a:lnTo>
                    <a:pt x="1642873" y="694867"/>
                  </a:lnTo>
                  <a:lnTo>
                    <a:pt x="1638227" y="695324"/>
                  </a:lnTo>
                  <a:lnTo>
                    <a:pt x="1633537" y="695324"/>
                  </a:lnTo>
                  <a:lnTo>
                    <a:pt x="71437" y="695324"/>
                  </a:lnTo>
                  <a:lnTo>
                    <a:pt x="66747" y="695324"/>
                  </a:lnTo>
                  <a:lnTo>
                    <a:pt x="62101" y="694867"/>
                  </a:lnTo>
                  <a:lnTo>
                    <a:pt x="57500" y="693951"/>
                  </a:lnTo>
                  <a:lnTo>
                    <a:pt x="52900" y="693036"/>
                  </a:lnTo>
                  <a:lnTo>
                    <a:pt x="20923" y="674400"/>
                  </a:lnTo>
                  <a:lnTo>
                    <a:pt x="17606" y="671083"/>
                  </a:lnTo>
                  <a:lnTo>
                    <a:pt x="14645" y="667474"/>
                  </a:lnTo>
                  <a:lnTo>
                    <a:pt x="12039" y="663574"/>
                  </a:lnTo>
                  <a:lnTo>
                    <a:pt x="9433" y="659674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7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80CB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631850" y="4413784"/>
            <a:ext cx="152463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65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Mendix</a:t>
            </a:r>
            <a:r>
              <a:rPr sz="1500" b="1" spc="-55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100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App</a:t>
            </a:r>
            <a:r>
              <a:rPr sz="1500" b="1" spc="-50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60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Layer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86474" y="5276849"/>
            <a:ext cx="19050" cy="285750"/>
          </a:xfrm>
          <a:custGeom>
            <a:avLst/>
            <a:gdLst/>
            <a:ahLst/>
            <a:cxnLst/>
            <a:rect l="l" t="t" r="r" b="b"/>
            <a:pathLst>
              <a:path w="19050" h="285750">
                <a:moveTo>
                  <a:pt x="19049" y="285749"/>
                </a:moveTo>
                <a:lnTo>
                  <a:pt x="0" y="285749"/>
                </a:lnTo>
                <a:lnTo>
                  <a:pt x="0" y="0"/>
                </a:lnTo>
                <a:lnTo>
                  <a:pt x="19049" y="0"/>
                </a:lnTo>
                <a:lnTo>
                  <a:pt x="19049" y="285749"/>
                </a:lnTo>
                <a:close/>
              </a:path>
            </a:pathLst>
          </a:custGeom>
          <a:solidFill>
            <a:srgbClr val="CBD5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280741" y="5861584"/>
            <a:ext cx="87566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80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Outcomes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72186" y="1309687"/>
            <a:ext cx="1952625" cy="695325"/>
            <a:chOff x="6072186" y="1309687"/>
            <a:chExt cx="1952625" cy="695325"/>
          </a:xfrm>
        </p:grpSpPr>
        <p:sp>
          <p:nvSpPr>
            <p:cNvPr id="21" name="object 21"/>
            <p:cNvSpPr/>
            <p:nvPr/>
          </p:nvSpPr>
          <p:spPr>
            <a:xfrm>
              <a:off x="6072186" y="1309687"/>
              <a:ext cx="1952625" cy="695325"/>
            </a:xfrm>
            <a:custGeom>
              <a:avLst/>
              <a:gdLst/>
              <a:ahLst/>
              <a:cxnLst/>
              <a:rect l="l" t="t" r="r" b="b"/>
              <a:pathLst>
                <a:path w="1952625" h="695325">
                  <a:moveTo>
                    <a:pt x="1885877" y="695324"/>
                  </a:moveTo>
                  <a:lnTo>
                    <a:pt x="66747" y="695324"/>
                  </a:lnTo>
                  <a:lnTo>
                    <a:pt x="62101" y="694867"/>
                  </a:lnTo>
                  <a:lnTo>
                    <a:pt x="24240" y="677717"/>
                  </a:lnTo>
                  <a:lnTo>
                    <a:pt x="2287" y="642424"/>
                  </a:lnTo>
                  <a:lnTo>
                    <a:pt x="0" y="628578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1885877" y="0"/>
                  </a:lnTo>
                  <a:lnTo>
                    <a:pt x="1924775" y="14645"/>
                  </a:lnTo>
                  <a:lnTo>
                    <a:pt x="1948981" y="48432"/>
                  </a:lnTo>
                  <a:lnTo>
                    <a:pt x="1952624" y="66746"/>
                  </a:lnTo>
                  <a:lnTo>
                    <a:pt x="1952624" y="628578"/>
                  </a:lnTo>
                  <a:lnTo>
                    <a:pt x="1937979" y="667475"/>
                  </a:lnTo>
                  <a:lnTo>
                    <a:pt x="1904191" y="691681"/>
                  </a:lnTo>
                  <a:lnTo>
                    <a:pt x="1890523" y="694867"/>
                  </a:lnTo>
                  <a:lnTo>
                    <a:pt x="1885877" y="6953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072186" y="1309687"/>
              <a:ext cx="1952625" cy="695325"/>
            </a:xfrm>
            <a:custGeom>
              <a:avLst/>
              <a:gdLst/>
              <a:ahLst/>
              <a:cxnLst/>
              <a:rect l="l" t="t" r="r" b="b"/>
              <a:pathLst>
                <a:path w="195262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8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881187" y="0"/>
                  </a:lnTo>
                  <a:lnTo>
                    <a:pt x="1885877" y="0"/>
                  </a:lnTo>
                  <a:lnTo>
                    <a:pt x="1890523" y="457"/>
                  </a:lnTo>
                  <a:lnTo>
                    <a:pt x="1928383" y="17606"/>
                  </a:lnTo>
                  <a:lnTo>
                    <a:pt x="1940584" y="31748"/>
                  </a:lnTo>
                  <a:lnTo>
                    <a:pt x="1943191" y="35648"/>
                  </a:lnTo>
                  <a:lnTo>
                    <a:pt x="1945391" y="39765"/>
                  </a:lnTo>
                  <a:lnTo>
                    <a:pt x="1947186" y="44099"/>
                  </a:lnTo>
                  <a:lnTo>
                    <a:pt x="1948981" y="48432"/>
                  </a:lnTo>
                  <a:lnTo>
                    <a:pt x="1950336" y="52900"/>
                  </a:lnTo>
                  <a:lnTo>
                    <a:pt x="1951251" y="57500"/>
                  </a:lnTo>
                  <a:lnTo>
                    <a:pt x="1952167" y="62101"/>
                  </a:lnTo>
                  <a:lnTo>
                    <a:pt x="1952624" y="66746"/>
                  </a:lnTo>
                  <a:lnTo>
                    <a:pt x="1952625" y="71437"/>
                  </a:lnTo>
                  <a:lnTo>
                    <a:pt x="1952625" y="623887"/>
                  </a:lnTo>
                  <a:lnTo>
                    <a:pt x="1952624" y="628578"/>
                  </a:lnTo>
                  <a:lnTo>
                    <a:pt x="1952167" y="633223"/>
                  </a:lnTo>
                  <a:lnTo>
                    <a:pt x="1951251" y="637823"/>
                  </a:lnTo>
                  <a:lnTo>
                    <a:pt x="1950336" y="642424"/>
                  </a:lnTo>
                  <a:lnTo>
                    <a:pt x="1948981" y="646891"/>
                  </a:lnTo>
                  <a:lnTo>
                    <a:pt x="1947186" y="651225"/>
                  </a:lnTo>
                  <a:lnTo>
                    <a:pt x="1945391" y="655558"/>
                  </a:lnTo>
                  <a:lnTo>
                    <a:pt x="1943190" y="659675"/>
                  </a:lnTo>
                  <a:lnTo>
                    <a:pt x="1940584" y="663575"/>
                  </a:lnTo>
                  <a:lnTo>
                    <a:pt x="1937979" y="667475"/>
                  </a:lnTo>
                  <a:lnTo>
                    <a:pt x="1904191" y="691681"/>
                  </a:lnTo>
                  <a:lnTo>
                    <a:pt x="1881187" y="695324"/>
                  </a:lnTo>
                  <a:lnTo>
                    <a:pt x="71438" y="695324"/>
                  </a:lnTo>
                  <a:lnTo>
                    <a:pt x="44099" y="689886"/>
                  </a:lnTo>
                  <a:lnTo>
                    <a:pt x="39764" y="688091"/>
                  </a:lnTo>
                  <a:lnTo>
                    <a:pt x="20923" y="674401"/>
                  </a:lnTo>
                  <a:lnTo>
                    <a:pt x="17607" y="671084"/>
                  </a:lnTo>
                  <a:lnTo>
                    <a:pt x="5438" y="651225"/>
                  </a:lnTo>
                  <a:lnTo>
                    <a:pt x="3642" y="646891"/>
                  </a:lnTo>
                  <a:lnTo>
                    <a:pt x="2287" y="642424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8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305053" y="1427837"/>
            <a:ext cx="148717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660" marR="5080" indent="-315595">
              <a:lnSpc>
                <a:spcPct val="109000"/>
              </a:lnSpc>
              <a:spcBef>
                <a:spcPts val="95"/>
              </a:spcBef>
            </a:pPr>
            <a:r>
              <a:rPr sz="1150" spc="-20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User</a:t>
            </a:r>
            <a:r>
              <a:rPr sz="1150" spc="-40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10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enters</a:t>
            </a:r>
            <a:r>
              <a:rPr sz="1150" spc="-40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20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symptoms</a:t>
            </a:r>
            <a:r>
              <a:rPr sz="1200" b="1" spc="-20" dirty="0">
                <a:solidFill>
                  <a:srgbClr val="334054"/>
                </a:solidFill>
                <a:latin typeface="Roboto Bk"/>
                <a:cs typeface="Roboto Bk"/>
              </a:rPr>
              <a:t>, </a:t>
            </a:r>
            <a:r>
              <a:rPr sz="1150" spc="-25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age</a:t>
            </a:r>
            <a:r>
              <a:rPr sz="1200" b="1" spc="-25" dirty="0">
                <a:solidFill>
                  <a:srgbClr val="334054"/>
                </a:solidFill>
                <a:latin typeface="Roboto Bk"/>
                <a:cs typeface="Roboto Bk"/>
              </a:rPr>
              <a:t>,</a:t>
            </a:r>
            <a:r>
              <a:rPr sz="1200" b="1" spc="-40" dirty="0">
                <a:solidFill>
                  <a:srgbClr val="334054"/>
                </a:solidFill>
                <a:latin typeface="Roboto Bk"/>
                <a:cs typeface="Roboto Bk"/>
              </a:rPr>
              <a:t> </a:t>
            </a:r>
            <a:r>
              <a:rPr sz="1150" spc="-10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duration</a:t>
            </a:r>
            <a:endParaRPr sz="11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081462" y="2757487"/>
            <a:ext cx="1866900" cy="695325"/>
            <a:chOff x="4081462" y="2757487"/>
            <a:chExt cx="1866900" cy="695325"/>
          </a:xfrm>
        </p:grpSpPr>
        <p:sp>
          <p:nvSpPr>
            <p:cNvPr id="26" name="object 26"/>
            <p:cNvSpPr/>
            <p:nvPr/>
          </p:nvSpPr>
          <p:spPr>
            <a:xfrm>
              <a:off x="4081462" y="2757487"/>
              <a:ext cx="1866900" cy="695325"/>
            </a:xfrm>
            <a:custGeom>
              <a:avLst/>
              <a:gdLst/>
              <a:ahLst/>
              <a:cxnLst/>
              <a:rect l="l" t="t" r="r" b="b"/>
              <a:pathLst>
                <a:path w="1866900" h="695325">
                  <a:moveTo>
                    <a:pt x="1800152" y="695324"/>
                  </a:moveTo>
                  <a:lnTo>
                    <a:pt x="66746" y="695324"/>
                  </a:lnTo>
                  <a:lnTo>
                    <a:pt x="62101" y="694867"/>
                  </a:lnTo>
                  <a:lnTo>
                    <a:pt x="24239" y="677717"/>
                  </a:lnTo>
                  <a:lnTo>
                    <a:pt x="2287" y="642424"/>
                  </a:lnTo>
                  <a:lnTo>
                    <a:pt x="0" y="628578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1800152" y="0"/>
                  </a:lnTo>
                  <a:lnTo>
                    <a:pt x="1839050" y="14645"/>
                  </a:lnTo>
                  <a:lnTo>
                    <a:pt x="1863255" y="48432"/>
                  </a:lnTo>
                  <a:lnTo>
                    <a:pt x="1866899" y="66746"/>
                  </a:lnTo>
                  <a:lnTo>
                    <a:pt x="1866899" y="628578"/>
                  </a:lnTo>
                  <a:lnTo>
                    <a:pt x="1852253" y="667475"/>
                  </a:lnTo>
                  <a:lnTo>
                    <a:pt x="1818466" y="691681"/>
                  </a:lnTo>
                  <a:lnTo>
                    <a:pt x="1804798" y="694867"/>
                  </a:lnTo>
                  <a:lnTo>
                    <a:pt x="1800152" y="695324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081462" y="2757487"/>
              <a:ext cx="1866900" cy="695325"/>
            </a:xfrm>
            <a:custGeom>
              <a:avLst/>
              <a:gdLst/>
              <a:ahLst/>
              <a:cxnLst/>
              <a:rect l="l" t="t" r="r" b="b"/>
              <a:pathLst>
                <a:path w="1866900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795462" y="0"/>
                  </a:lnTo>
                  <a:lnTo>
                    <a:pt x="1800152" y="0"/>
                  </a:lnTo>
                  <a:lnTo>
                    <a:pt x="1804798" y="457"/>
                  </a:lnTo>
                  <a:lnTo>
                    <a:pt x="1809398" y="1372"/>
                  </a:lnTo>
                  <a:lnTo>
                    <a:pt x="1813999" y="2287"/>
                  </a:lnTo>
                  <a:lnTo>
                    <a:pt x="1845975" y="20923"/>
                  </a:lnTo>
                  <a:lnTo>
                    <a:pt x="1849292" y="24240"/>
                  </a:lnTo>
                  <a:lnTo>
                    <a:pt x="1852253" y="27848"/>
                  </a:lnTo>
                  <a:lnTo>
                    <a:pt x="1854858" y="31748"/>
                  </a:lnTo>
                  <a:lnTo>
                    <a:pt x="1857464" y="35649"/>
                  </a:lnTo>
                  <a:lnTo>
                    <a:pt x="1866899" y="71437"/>
                  </a:lnTo>
                  <a:lnTo>
                    <a:pt x="1866899" y="623887"/>
                  </a:lnTo>
                  <a:lnTo>
                    <a:pt x="1854858" y="663575"/>
                  </a:lnTo>
                  <a:lnTo>
                    <a:pt x="1852253" y="667475"/>
                  </a:lnTo>
                  <a:lnTo>
                    <a:pt x="1849292" y="671084"/>
                  </a:lnTo>
                  <a:lnTo>
                    <a:pt x="1845975" y="674400"/>
                  </a:lnTo>
                  <a:lnTo>
                    <a:pt x="1842658" y="677717"/>
                  </a:lnTo>
                  <a:lnTo>
                    <a:pt x="1809398" y="693951"/>
                  </a:lnTo>
                  <a:lnTo>
                    <a:pt x="1804798" y="694867"/>
                  </a:lnTo>
                  <a:lnTo>
                    <a:pt x="1800152" y="695324"/>
                  </a:lnTo>
                  <a:lnTo>
                    <a:pt x="1795462" y="695324"/>
                  </a:lnTo>
                  <a:lnTo>
                    <a:pt x="71437" y="695324"/>
                  </a:lnTo>
                  <a:lnTo>
                    <a:pt x="66746" y="695324"/>
                  </a:lnTo>
                  <a:lnTo>
                    <a:pt x="62101" y="694867"/>
                  </a:lnTo>
                  <a:lnTo>
                    <a:pt x="31748" y="683284"/>
                  </a:lnTo>
                  <a:lnTo>
                    <a:pt x="27848" y="680679"/>
                  </a:lnTo>
                  <a:lnTo>
                    <a:pt x="24239" y="677717"/>
                  </a:lnTo>
                  <a:lnTo>
                    <a:pt x="20923" y="674400"/>
                  </a:lnTo>
                  <a:lnTo>
                    <a:pt x="17606" y="671084"/>
                  </a:lnTo>
                  <a:lnTo>
                    <a:pt x="14644" y="667475"/>
                  </a:lnTo>
                  <a:lnTo>
                    <a:pt x="12038" y="663575"/>
                  </a:lnTo>
                  <a:lnTo>
                    <a:pt x="9432" y="659675"/>
                  </a:lnTo>
                  <a:lnTo>
                    <a:pt x="7232" y="655558"/>
                  </a:lnTo>
                  <a:lnTo>
                    <a:pt x="5437" y="651224"/>
                  </a:lnTo>
                  <a:lnTo>
                    <a:pt x="3642" y="646890"/>
                  </a:lnTo>
                  <a:lnTo>
                    <a:pt x="2287" y="642424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8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D8B4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309864" y="2874515"/>
            <a:ext cx="141160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marR="5080" indent="-71755">
              <a:lnSpc>
                <a:spcPct val="114000"/>
              </a:lnSpc>
              <a:spcBef>
                <a:spcPts val="95"/>
              </a:spcBef>
            </a:pPr>
            <a:r>
              <a:rPr sz="1150" spc="-35" dirty="0">
                <a:solidFill>
                  <a:srgbClr val="6A20A7"/>
                </a:solidFill>
                <a:latin typeface="Microsoft Sans Serif" panose="020B0604020202020204"/>
                <a:cs typeface="Microsoft Sans Serif" panose="020B0604020202020204"/>
              </a:rPr>
              <a:t>Feature</a:t>
            </a:r>
            <a:r>
              <a:rPr sz="1150" spc="10" dirty="0">
                <a:solidFill>
                  <a:srgbClr val="6A20A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20" dirty="0">
                <a:solidFill>
                  <a:srgbClr val="6A20A7"/>
                </a:solidFill>
                <a:latin typeface="Microsoft Sans Serif" panose="020B0604020202020204"/>
                <a:cs typeface="Microsoft Sans Serif" panose="020B0604020202020204"/>
              </a:rPr>
              <a:t>engineering</a:t>
            </a:r>
            <a:r>
              <a:rPr sz="1150" spc="10" dirty="0">
                <a:solidFill>
                  <a:srgbClr val="6A20A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50" dirty="0">
                <a:solidFill>
                  <a:srgbClr val="6A20A7"/>
                </a:solidFill>
                <a:latin typeface="Comic Sans MS" panose="030F0702030302020204"/>
                <a:cs typeface="Comic Sans MS" panose="030F0702030302020204"/>
              </a:rPr>
              <a:t>&amp; </a:t>
            </a:r>
            <a:r>
              <a:rPr sz="1150" spc="-10" dirty="0">
                <a:solidFill>
                  <a:srgbClr val="6A20A7"/>
                </a:solidFill>
                <a:latin typeface="Microsoft Sans Serif" panose="020B0604020202020204"/>
                <a:cs typeface="Microsoft Sans Serif" panose="020B0604020202020204"/>
              </a:rPr>
              <a:t>symptom</a:t>
            </a:r>
            <a:r>
              <a:rPr sz="1150" spc="-65" dirty="0">
                <a:solidFill>
                  <a:srgbClr val="6A20A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10" dirty="0">
                <a:solidFill>
                  <a:srgbClr val="6A20A7"/>
                </a:solidFill>
                <a:latin typeface="Microsoft Sans Serif" panose="020B0604020202020204"/>
                <a:cs typeface="Microsoft Sans Serif" panose="020B0604020202020204"/>
              </a:rPr>
              <a:t>clustering</a:t>
            </a:r>
            <a:endParaRPr sz="11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24600" y="2895600"/>
            <a:ext cx="1643380" cy="414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8930" marR="5080" lvl="0" indent="-316865" algn="l" rtl="0" eaLnBrk="1" fontAlgn="auto" latinLnBrk="0" hangingPunct="1">
              <a:lnSpc>
                <a:spcPct val="114000"/>
              </a:lnSpc>
              <a:spcBef>
                <a:spcPts val="95"/>
              </a:spcBef>
              <a:buClrTx/>
              <a:buSzTx/>
              <a:buFontTx/>
              <a:buNone/>
            </a:pPr>
            <a:r>
              <a:rPr kumimoji="0" sz="1150" b="0" i="0" u="none" strike="noStrike" kern="0" cap="none" spc="-25" normalizeH="0" baseline="0" noProof="1" dirty="0">
                <a:solidFill>
                  <a:srgbClr val="6A20A7"/>
                </a:solidFill>
                <a:latin typeface="Microsoft Sans Serif" panose="020B0604020202020204"/>
                <a:ea typeface="Arial" panose="020B0604020202020204" pitchFamily="34" charset="0"/>
                <a:cs typeface="Microsoft Sans Serif" panose="020B0604020202020204"/>
                <a:sym typeface="+mn-ea"/>
              </a:rPr>
              <a:t>Disease</a:t>
            </a:r>
            <a:r>
              <a:rPr kumimoji="0" sz="1150" b="0" i="0" u="none" strike="noStrike" kern="0" cap="none" spc="-25" normalizeH="0" baseline="0" noProof="1" dirty="0">
                <a:solidFill>
                  <a:srgbClr val="6A20A7"/>
                </a:solidFill>
                <a:latin typeface="Microsoft Sans Serif" panose="020B0604020202020204"/>
                <a:ea typeface="Arial" panose="020B0604020202020204" pitchFamily="34" charset="0"/>
                <a:cs typeface="Microsoft Sans Serif" panose="020B0604020202020204"/>
                <a:sym typeface="+mn-ea"/>
              </a:rPr>
              <a:t> </a:t>
            </a:r>
            <a:r>
              <a:rPr kumimoji="0" sz="1150" b="0" i="0" u="none" strike="noStrike" kern="0" cap="none" spc="-25" normalizeH="0" baseline="0" noProof="1" dirty="0">
                <a:solidFill>
                  <a:srgbClr val="6A20A7"/>
                </a:solidFill>
                <a:latin typeface="Microsoft Sans Serif" panose="020B0604020202020204"/>
                <a:ea typeface="Arial" panose="020B0604020202020204" pitchFamily="34" charset="0"/>
                <a:cs typeface="Microsoft Sans Serif" panose="020B0604020202020204"/>
                <a:sym typeface="+mn-ea"/>
              </a:rPr>
              <a:t>prediction</a:t>
            </a:r>
            <a:r>
              <a:rPr kumimoji="0" lang="en-IN" altLang="" sz="1150" b="0" i="0" u="none" strike="noStrike" kern="0" cap="none" spc="-25" normalizeH="0" baseline="0" noProof="1" dirty="0">
                <a:solidFill>
                  <a:srgbClr val="6A20A7"/>
                </a:solidFill>
                <a:latin typeface="Microsoft Sans Serif" panose="020B0604020202020204"/>
                <a:ea typeface="Arial" panose="020B0604020202020204" pitchFamily="34" charset="0"/>
                <a:cs typeface="Microsoft Sans Serif" panose="020B0604020202020204"/>
                <a:sym typeface="+mn-ea"/>
              </a:rPr>
              <a:t> </a:t>
            </a:r>
            <a:r>
              <a:rPr kumimoji="0" sz="1150" b="0" i="0" u="none" strike="noStrike" kern="0" cap="none" spc="-25" normalizeH="0" baseline="0" noProof="1" dirty="0">
                <a:solidFill>
                  <a:srgbClr val="6A20A7"/>
                </a:solidFill>
                <a:latin typeface="Microsoft Sans Serif" panose="020B0604020202020204"/>
                <a:ea typeface="Arial" panose="020B0604020202020204" pitchFamily="34" charset="0"/>
                <a:cs typeface="Microsoft Sans Serif" panose="020B0604020202020204"/>
                <a:sym typeface="+mn-ea"/>
              </a:rPr>
              <a:t>model</a:t>
            </a:r>
            <a:r>
              <a:rPr kumimoji="0" sz="1150" b="0" i="0" u="none" strike="noStrike" kern="0" cap="none" spc="-25" normalizeH="0" baseline="0" noProof="1" dirty="0">
                <a:solidFill>
                  <a:srgbClr val="6A20A7"/>
                </a:solidFill>
                <a:latin typeface="Microsoft Sans Serif" panose="020B0604020202020204"/>
                <a:ea typeface="Arial" panose="020B0604020202020204" pitchFamily="34" charset="0"/>
                <a:cs typeface="Microsoft Sans Serif" panose="020B0604020202020204"/>
                <a:sym typeface="+mn-ea"/>
              </a:rPr>
              <a:t> </a:t>
            </a:r>
            <a:r>
              <a:rPr kumimoji="0" sz="1150" b="0" i="0" u="none" strike="noStrike" kern="0" cap="none" spc="-25" normalizeH="0" baseline="0" noProof="1" dirty="0">
                <a:solidFill>
                  <a:srgbClr val="6A20A7"/>
                </a:solidFill>
                <a:latin typeface="Microsoft Sans Serif" panose="020B0604020202020204"/>
                <a:ea typeface="Arial" panose="020B0604020202020204" pitchFamily="34" charset="0"/>
                <a:cs typeface="Microsoft Sans Serif" panose="020B0604020202020204"/>
                <a:sym typeface="+mn-ea"/>
              </a:rPr>
              <a:t>(</a:t>
            </a:r>
            <a:r>
              <a:rPr kumimoji="0" sz="1150" b="0" i="0" u="none" strike="noStrike" kern="0" cap="none" spc="-25" normalizeH="0" baseline="0" noProof="1" dirty="0">
                <a:solidFill>
                  <a:srgbClr val="6A20A7"/>
                </a:solidFill>
                <a:latin typeface="Microsoft Sans Serif" panose="020B0604020202020204"/>
                <a:ea typeface="Arial" panose="020B0604020202020204" pitchFamily="34" charset="0"/>
                <a:cs typeface="Microsoft Sans Serif" panose="020B0604020202020204"/>
                <a:sym typeface="+mn-ea"/>
              </a:rPr>
              <a:t>Naive Bayes</a:t>
            </a:r>
            <a:r>
              <a:rPr kumimoji="0" sz="1150" b="0" i="0" u="none" strike="noStrike" kern="0" cap="none" spc="-25" normalizeH="0" baseline="0" noProof="1" dirty="0">
                <a:solidFill>
                  <a:srgbClr val="6A20A7"/>
                </a:solidFill>
                <a:latin typeface="Microsoft Sans Serif" panose="020B0604020202020204"/>
                <a:ea typeface="Arial" panose="020B0604020202020204" pitchFamily="34" charset="0"/>
                <a:cs typeface="Microsoft Sans Serif" panose="020B0604020202020204"/>
                <a:sym typeface="+mn-ea"/>
              </a:rPr>
              <a:t>)</a:t>
            </a:r>
            <a:endParaRPr kumimoji="0" sz="1150" b="0" i="0" u="none" strike="noStrike" kern="0" cap="none" spc="-25" normalizeH="0" baseline="0" noProof="1" dirty="0">
              <a:solidFill>
                <a:srgbClr val="6A20A7"/>
              </a:solidFill>
              <a:latin typeface="Microsoft Sans Serif" panose="020B0604020202020204"/>
              <a:ea typeface="Arial" panose="020B0604020202020204" pitchFamily="34" charset="0"/>
              <a:cs typeface="Microsoft Sans Serif" panose="020B0604020202020204"/>
              <a:sym typeface="+mn-e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310561" y="2757487"/>
            <a:ext cx="1704975" cy="695325"/>
            <a:chOff x="8310561" y="2757487"/>
            <a:chExt cx="1704975" cy="695325"/>
          </a:xfrm>
        </p:grpSpPr>
        <p:sp>
          <p:nvSpPr>
            <p:cNvPr id="32" name="object 32"/>
            <p:cNvSpPr/>
            <p:nvPr/>
          </p:nvSpPr>
          <p:spPr>
            <a:xfrm>
              <a:off x="8310561" y="27574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638227" y="695324"/>
                  </a:moveTo>
                  <a:lnTo>
                    <a:pt x="66747" y="695324"/>
                  </a:lnTo>
                  <a:lnTo>
                    <a:pt x="62101" y="694867"/>
                  </a:lnTo>
                  <a:lnTo>
                    <a:pt x="24240" y="677717"/>
                  </a:lnTo>
                  <a:lnTo>
                    <a:pt x="2287" y="642424"/>
                  </a:lnTo>
                  <a:lnTo>
                    <a:pt x="0" y="628578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1638227" y="0"/>
                  </a:lnTo>
                  <a:lnTo>
                    <a:pt x="1677125" y="14645"/>
                  </a:lnTo>
                  <a:lnTo>
                    <a:pt x="1701331" y="48432"/>
                  </a:lnTo>
                  <a:lnTo>
                    <a:pt x="1704975" y="66746"/>
                  </a:lnTo>
                  <a:lnTo>
                    <a:pt x="1704975" y="628578"/>
                  </a:lnTo>
                  <a:lnTo>
                    <a:pt x="1690329" y="667475"/>
                  </a:lnTo>
                  <a:lnTo>
                    <a:pt x="1656541" y="691681"/>
                  </a:lnTo>
                  <a:lnTo>
                    <a:pt x="1642872" y="694867"/>
                  </a:lnTo>
                  <a:lnTo>
                    <a:pt x="1638227" y="695324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310561" y="27574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633537" y="0"/>
                  </a:lnTo>
                  <a:lnTo>
                    <a:pt x="1638227" y="0"/>
                  </a:lnTo>
                  <a:lnTo>
                    <a:pt x="1642872" y="457"/>
                  </a:lnTo>
                  <a:lnTo>
                    <a:pt x="1647473" y="1372"/>
                  </a:lnTo>
                  <a:lnTo>
                    <a:pt x="1652073" y="2287"/>
                  </a:lnTo>
                  <a:lnTo>
                    <a:pt x="1673225" y="12038"/>
                  </a:lnTo>
                  <a:lnTo>
                    <a:pt x="1677125" y="14645"/>
                  </a:lnTo>
                  <a:lnTo>
                    <a:pt x="1680733" y="17606"/>
                  </a:lnTo>
                  <a:lnTo>
                    <a:pt x="1684051" y="20923"/>
                  </a:lnTo>
                  <a:lnTo>
                    <a:pt x="1687368" y="24240"/>
                  </a:lnTo>
                  <a:lnTo>
                    <a:pt x="1690329" y="27848"/>
                  </a:lnTo>
                  <a:lnTo>
                    <a:pt x="1692935" y="31748"/>
                  </a:lnTo>
                  <a:lnTo>
                    <a:pt x="1695541" y="35649"/>
                  </a:lnTo>
                  <a:lnTo>
                    <a:pt x="1703602" y="57500"/>
                  </a:lnTo>
                  <a:lnTo>
                    <a:pt x="1704517" y="62101"/>
                  </a:lnTo>
                  <a:lnTo>
                    <a:pt x="1704975" y="66746"/>
                  </a:lnTo>
                  <a:lnTo>
                    <a:pt x="1704975" y="71437"/>
                  </a:lnTo>
                  <a:lnTo>
                    <a:pt x="1704975" y="623887"/>
                  </a:lnTo>
                  <a:lnTo>
                    <a:pt x="1704975" y="628578"/>
                  </a:lnTo>
                  <a:lnTo>
                    <a:pt x="1704517" y="633223"/>
                  </a:lnTo>
                  <a:lnTo>
                    <a:pt x="1692935" y="663575"/>
                  </a:lnTo>
                  <a:lnTo>
                    <a:pt x="1690329" y="667475"/>
                  </a:lnTo>
                  <a:lnTo>
                    <a:pt x="1687368" y="671084"/>
                  </a:lnTo>
                  <a:lnTo>
                    <a:pt x="1684051" y="674400"/>
                  </a:lnTo>
                  <a:lnTo>
                    <a:pt x="1680733" y="677717"/>
                  </a:lnTo>
                  <a:lnTo>
                    <a:pt x="1677125" y="680679"/>
                  </a:lnTo>
                  <a:lnTo>
                    <a:pt x="1673225" y="683285"/>
                  </a:lnTo>
                  <a:lnTo>
                    <a:pt x="1669325" y="685891"/>
                  </a:lnTo>
                  <a:lnTo>
                    <a:pt x="1647473" y="693951"/>
                  </a:lnTo>
                  <a:lnTo>
                    <a:pt x="1642872" y="694867"/>
                  </a:lnTo>
                  <a:lnTo>
                    <a:pt x="1638227" y="695324"/>
                  </a:lnTo>
                  <a:lnTo>
                    <a:pt x="1633537" y="695324"/>
                  </a:lnTo>
                  <a:lnTo>
                    <a:pt x="71438" y="695324"/>
                  </a:lnTo>
                  <a:lnTo>
                    <a:pt x="66747" y="695324"/>
                  </a:lnTo>
                  <a:lnTo>
                    <a:pt x="62101" y="694867"/>
                  </a:lnTo>
                  <a:lnTo>
                    <a:pt x="31748" y="683284"/>
                  </a:lnTo>
                  <a:lnTo>
                    <a:pt x="27848" y="680679"/>
                  </a:lnTo>
                  <a:lnTo>
                    <a:pt x="24240" y="677717"/>
                  </a:lnTo>
                  <a:lnTo>
                    <a:pt x="20923" y="674400"/>
                  </a:lnTo>
                  <a:lnTo>
                    <a:pt x="17606" y="671084"/>
                  </a:lnTo>
                  <a:lnTo>
                    <a:pt x="14645" y="667475"/>
                  </a:lnTo>
                  <a:lnTo>
                    <a:pt x="12038" y="663575"/>
                  </a:lnTo>
                  <a:lnTo>
                    <a:pt x="9432" y="659675"/>
                  </a:lnTo>
                  <a:lnTo>
                    <a:pt x="0" y="628578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D8B4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8538368" y="2874515"/>
            <a:ext cx="124904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8930" marR="5080" indent="-316865">
              <a:lnSpc>
                <a:spcPct val="114000"/>
              </a:lnSpc>
              <a:spcBef>
                <a:spcPts val="95"/>
              </a:spcBef>
            </a:pPr>
            <a:r>
              <a:rPr sz="1150" spc="-25" dirty="0">
                <a:solidFill>
                  <a:srgbClr val="6A20A7"/>
                </a:solidFill>
                <a:latin typeface="Microsoft Sans Serif" panose="020B0604020202020204"/>
                <a:cs typeface="Microsoft Sans Serif" panose="020B0604020202020204"/>
              </a:rPr>
              <a:t>Geographic</a:t>
            </a:r>
            <a:r>
              <a:rPr sz="1150" spc="10" dirty="0">
                <a:solidFill>
                  <a:srgbClr val="6A20A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10" dirty="0">
                <a:solidFill>
                  <a:srgbClr val="6A20A7"/>
                </a:solidFill>
                <a:latin typeface="Microsoft Sans Serif" panose="020B0604020202020204"/>
                <a:cs typeface="Microsoft Sans Serif" panose="020B0604020202020204"/>
              </a:rPr>
              <a:t>pattern detection</a:t>
            </a:r>
            <a:endParaRPr sz="11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75224" y="4448823"/>
            <a:ext cx="113665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0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Patient</a:t>
            </a:r>
            <a:r>
              <a:rPr sz="1150" spc="-50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triage</a:t>
            </a:r>
            <a:r>
              <a:rPr sz="1150" spc="-50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25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app</a:t>
            </a:r>
            <a:endParaRPr sz="11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196011" y="4205287"/>
            <a:ext cx="1704975" cy="695325"/>
            <a:chOff x="6196011" y="4205287"/>
            <a:chExt cx="1704975" cy="695325"/>
          </a:xfrm>
        </p:grpSpPr>
        <p:sp>
          <p:nvSpPr>
            <p:cNvPr id="38" name="object 38"/>
            <p:cNvSpPr/>
            <p:nvPr/>
          </p:nvSpPr>
          <p:spPr>
            <a:xfrm>
              <a:off x="6196011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638228" y="695324"/>
                  </a:moveTo>
                  <a:lnTo>
                    <a:pt x="66747" y="695324"/>
                  </a:lnTo>
                  <a:lnTo>
                    <a:pt x="62100" y="694867"/>
                  </a:lnTo>
                  <a:lnTo>
                    <a:pt x="24239" y="677717"/>
                  </a:lnTo>
                  <a:lnTo>
                    <a:pt x="2287" y="642424"/>
                  </a:lnTo>
                  <a:lnTo>
                    <a:pt x="0" y="628577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1638228" y="0"/>
                  </a:lnTo>
                  <a:lnTo>
                    <a:pt x="1677125" y="14645"/>
                  </a:lnTo>
                  <a:lnTo>
                    <a:pt x="1701330" y="48432"/>
                  </a:lnTo>
                  <a:lnTo>
                    <a:pt x="1704974" y="66746"/>
                  </a:lnTo>
                  <a:lnTo>
                    <a:pt x="1704974" y="628577"/>
                  </a:lnTo>
                  <a:lnTo>
                    <a:pt x="1690328" y="667474"/>
                  </a:lnTo>
                  <a:lnTo>
                    <a:pt x="1656541" y="691680"/>
                  </a:lnTo>
                  <a:lnTo>
                    <a:pt x="1642873" y="694867"/>
                  </a:lnTo>
                  <a:lnTo>
                    <a:pt x="1638228" y="695324"/>
                  </a:lnTo>
                  <a:close/>
                </a:path>
              </a:pathLst>
            </a:custGeom>
            <a:solidFill>
              <a:srgbClr val="DF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196011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2" y="35648"/>
                  </a:lnTo>
                  <a:lnTo>
                    <a:pt x="12038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27848" y="14644"/>
                  </a:lnTo>
                  <a:lnTo>
                    <a:pt x="31748" y="12038"/>
                  </a:lnTo>
                  <a:lnTo>
                    <a:pt x="35648" y="9432"/>
                  </a:lnTo>
                  <a:lnTo>
                    <a:pt x="39764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499" y="1372"/>
                  </a:lnTo>
                  <a:lnTo>
                    <a:pt x="62100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633537" y="0"/>
                  </a:lnTo>
                  <a:lnTo>
                    <a:pt x="1638228" y="0"/>
                  </a:lnTo>
                  <a:lnTo>
                    <a:pt x="1642874" y="457"/>
                  </a:lnTo>
                  <a:lnTo>
                    <a:pt x="1680734" y="17606"/>
                  </a:lnTo>
                  <a:lnTo>
                    <a:pt x="1684051" y="20923"/>
                  </a:lnTo>
                  <a:lnTo>
                    <a:pt x="1687367" y="24239"/>
                  </a:lnTo>
                  <a:lnTo>
                    <a:pt x="1703601" y="57500"/>
                  </a:lnTo>
                  <a:lnTo>
                    <a:pt x="1704517" y="62101"/>
                  </a:lnTo>
                  <a:lnTo>
                    <a:pt x="1704974" y="66746"/>
                  </a:lnTo>
                  <a:lnTo>
                    <a:pt x="1704975" y="71437"/>
                  </a:lnTo>
                  <a:lnTo>
                    <a:pt x="1704975" y="623887"/>
                  </a:lnTo>
                  <a:lnTo>
                    <a:pt x="1704974" y="628577"/>
                  </a:lnTo>
                  <a:lnTo>
                    <a:pt x="1704517" y="633223"/>
                  </a:lnTo>
                  <a:lnTo>
                    <a:pt x="1703601" y="637823"/>
                  </a:lnTo>
                  <a:lnTo>
                    <a:pt x="1702686" y="642424"/>
                  </a:lnTo>
                  <a:lnTo>
                    <a:pt x="1680734" y="677717"/>
                  </a:lnTo>
                  <a:lnTo>
                    <a:pt x="1647474" y="693951"/>
                  </a:lnTo>
                  <a:lnTo>
                    <a:pt x="1642873" y="694867"/>
                  </a:lnTo>
                  <a:lnTo>
                    <a:pt x="1638228" y="695324"/>
                  </a:lnTo>
                  <a:lnTo>
                    <a:pt x="1633537" y="695324"/>
                  </a:lnTo>
                  <a:lnTo>
                    <a:pt x="71438" y="695324"/>
                  </a:lnTo>
                  <a:lnTo>
                    <a:pt x="66747" y="695324"/>
                  </a:lnTo>
                  <a:lnTo>
                    <a:pt x="62100" y="694867"/>
                  </a:lnTo>
                  <a:lnTo>
                    <a:pt x="24239" y="677717"/>
                  </a:lnTo>
                  <a:lnTo>
                    <a:pt x="5437" y="651224"/>
                  </a:lnTo>
                  <a:lnTo>
                    <a:pt x="3642" y="646890"/>
                  </a:lnTo>
                  <a:lnTo>
                    <a:pt x="2287" y="642424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7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80CB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614021" y="4322315"/>
            <a:ext cx="86868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155" marR="5080" indent="-85090">
              <a:lnSpc>
                <a:spcPct val="114000"/>
              </a:lnSpc>
              <a:spcBef>
                <a:spcPts val="95"/>
              </a:spcBef>
            </a:pPr>
            <a:r>
              <a:rPr sz="1150" spc="-65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ASHA</a:t>
            </a:r>
            <a:r>
              <a:rPr sz="1150" spc="-5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10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worker dashboard</a:t>
            </a:r>
            <a:endParaRPr sz="11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01011" y="4205287"/>
            <a:ext cx="1704975" cy="695325"/>
            <a:chOff x="8101011" y="4205287"/>
            <a:chExt cx="1704975" cy="695325"/>
          </a:xfrm>
        </p:grpSpPr>
        <p:sp>
          <p:nvSpPr>
            <p:cNvPr id="43" name="object 43"/>
            <p:cNvSpPr/>
            <p:nvPr/>
          </p:nvSpPr>
          <p:spPr>
            <a:xfrm>
              <a:off x="8101011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638228" y="695324"/>
                  </a:moveTo>
                  <a:lnTo>
                    <a:pt x="66747" y="695324"/>
                  </a:lnTo>
                  <a:lnTo>
                    <a:pt x="62101" y="694867"/>
                  </a:lnTo>
                  <a:lnTo>
                    <a:pt x="24240" y="677717"/>
                  </a:lnTo>
                  <a:lnTo>
                    <a:pt x="2288" y="642424"/>
                  </a:lnTo>
                  <a:lnTo>
                    <a:pt x="0" y="628577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638228" y="0"/>
                  </a:lnTo>
                  <a:lnTo>
                    <a:pt x="1677125" y="14645"/>
                  </a:lnTo>
                  <a:lnTo>
                    <a:pt x="1701331" y="48432"/>
                  </a:lnTo>
                  <a:lnTo>
                    <a:pt x="1704975" y="66746"/>
                  </a:lnTo>
                  <a:lnTo>
                    <a:pt x="1704975" y="628577"/>
                  </a:lnTo>
                  <a:lnTo>
                    <a:pt x="1690328" y="667474"/>
                  </a:lnTo>
                  <a:lnTo>
                    <a:pt x="1656541" y="691680"/>
                  </a:lnTo>
                  <a:lnTo>
                    <a:pt x="1642873" y="694867"/>
                  </a:lnTo>
                  <a:lnTo>
                    <a:pt x="1638228" y="695324"/>
                  </a:lnTo>
                  <a:close/>
                </a:path>
              </a:pathLst>
            </a:custGeom>
            <a:solidFill>
              <a:srgbClr val="DF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101011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7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31749" y="12038"/>
                  </a:lnTo>
                  <a:lnTo>
                    <a:pt x="35648" y="9432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633537" y="0"/>
                  </a:lnTo>
                  <a:lnTo>
                    <a:pt x="1638228" y="0"/>
                  </a:lnTo>
                  <a:lnTo>
                    <a:pt x="1642873" y="457"/>
                  </a:lnTo>
                  <a:lnTo>
                    <a:pt x="1680733" y="17606"/>
                  </a:lnTo>
                  <a:lnTo>
                    <a:pt x="1692934" y="31748"/>
                  </a:lnTo>
                  <a:lnTo>
                    <a:pt x="1695539" y="35648"/>
                  </a:lnTo>
                  <a:lnTo>
                    <a:pt x="1703602" y="57500"/>
                  </a:lnTo>
                  <a:lnTo>
                    <a:pt x="1704517" y="62101"/>
                  </a:lnTo>
                  <a:lnTo>
                    <a:pt x="1704975" y="66746"/>
                  </a:lnTo>
                  <a:lnTo>
                    <a:pt x="1704975" y="71437"/>
                  </a:lnTo>
                  <a:lnTo>
                    <a:pt x="1704975" y="623887"/>
                  </a:lnTo>
                  <a:lnTo>
                    <a:pt x="1704975" y="628577"/>
                  </a:lnTo>
                  <a:lnTo>
                    <a:pt x="1704517" y="633223"/>
                  </a:lnTo>
                  <a:lnTo>
                    <a:pt x="1703602" y="637823"/>
                  </a:lnTo>
                  <a:lnTo>
                    <a:pt x="1702687" y="642424"/>
                  </a:lnTo>
                  <a:lnTo>
                    <a:pt x="1680733" y="677717"/>
                  </a:lnTo>
                  <a:lnTo>
                    <a:pt x="1647473" y="693951"/>
                  </a:lnTo>
                  <a:lnTo>
                    <a:pt x="1642873" y="694867"/>
                  </a:lnTo>
                  <a:lnTo>
                    <a:pt x="1638228" y="695324"/>
                  </a:lnTo>
                  <a:lnTo>
                    <a:pt x="1633537" y="695324"/>
                  </a:lnTo>
                  <a:lnTo>
                    <a:pt x="71438" y="695324"/>
                  </a:lnTo>
                  <a:lnTo>
                    <a:pt x="66747" y="695324"/>
                  </a:lnTo>
                  <a:lnTo>
                    <a:pt x="62101" y="694867"/>
                  </a:lnTo>
                  <a:lnTo>
                    <a:pt x="57501" y="693951"/>
                  </a:lnTo>
                  <a:lnTo>
                    <a:pt x="52900" y="693036"/>
                  </a:lnTo>
                  <a:lnTo>
                    <a:pt x="17607" y="671083"/>
                  </a:lnTo>
                  <a:lnTo>
                    <a:pt x="457" y="633223"/>
                  </a:lnTo>
                  <a:lnTo>
                    <a:pt x="0" y="628577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80CB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8348761" y="4322315"/>
            <a:ext cx="120967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785" marR="5080" indent="-299720">
              <a:lnSpc>
                <a:spcPct val="114000"/>
              </a:lnSpc>
              <a:spcBef>
                <a:spcPts val="95"/>
              </a:spcBef>
            </a:pPr>
            <a:r>
              <a:rPr sz="1150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District</a:t>
            </a:r>
            <a:r>
              <a:rPr sz="1150" spc="-45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10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health</a:t>
            </a:r>
            <a:r>
              <a:rPr sz="1150" spc="-40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35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map </a:t>
            </a:r>
            <a:r>
              <a:rPr sz="1150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1150" spc="15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20" dirty="0">
                <a:solidFill>
                  <a:srgbClr val="00695C"/>
                </a:solidFill>
                <a:latin typeface="Microsoft Sans Serif" panose="020B0604020202020204"/>
                <a:cs typeface="Microsoft Sans Serif" panose="020B0604020202020204"/>
              </a:rPr>
              <a:t>NGOs</a:t>
            </a:r>
            <a:endParaRPr sz="11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090986" y="5757861"/>
            <a:ext cx="1704975" cy="495300"/>
            <a:chOff x="4090986" y="5757861"/>
            <a:chExt cx="1704975" cy="495300"/>
          </a:xfrm>
        </p:grpSpPr>
        <p:sp>
          <p:nvSpPr>
            <p:cNvPr id="48" name="object 48"/>
            <p:cNvSpPr/>
            <p:nvPr/>
          </p:nvSpPr>
          <p:spPr>
            <a:xfrm>
              <a:off x="4090986" y="5757861"/>
              <a:ext cx="1704975" cy="495300"/>
            </a:xfrm>
            <a:custGeom>
              <a:avLst/>
              <a:gdLst/>
              <a:ahLst/>
              <a:cxnLst/>
              <a:rect l="l" t="t" r="r" b="b"/>
              <a:pathLst>
                <a:path w="1704975" h="495300">
                  <a:moveTo>
                    <a:pt x="1638228" y="495299"/>
                  </a:moveTo>
                  <a:lnTo>
                    <a:pt x="66747" y="495299"/>
                  </a:lnTo>
                  <a:lnTo>
                    <a:pt x="62101" y="494841"/>
                  </a:lnTo>
                  <a:lnTo>
                    <a:pt x="24240" y="477692"/>
                  </a:lnTo>
                  <a:lnTo>
                    <a:pt x="2287" y="442399"/>
                  </a:lnTo>
                  <a:lnTo>
                    <a:pt x="0" y="428552"/>
                  </a:lnTo>
                  <a:lnTo>
                    <a:pt x="0" y="4238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638228" y="0"/>
                  </a:lnTo>
                  <a:lnTo>
                    <a:pt x="1677125" y="14645"/>
                  </a:lnTo>
                  <a:lnTo>
                    <a:pt x="1701331" y="48433"/>
                  </a:lnTo>
                  <a:lnTo>
                    <a:pt x="1704975" y="66746"/>
                  </a:lnTo>
                  <a:lnTo>
                    <a:pt x="1704975" y="428552"/>
                  </a:lnTo>
                  <a:lnTo>
                    <a:pt x="1690328" y="467450"/>
                  </a:lnTo>
                  <a:lnTo>
                    <a:pt x="1656540" y="491655"/>
                  </a:lnTo>
                  <a:lnTo>
                    <a:pt x="1642873" y="494841"/>
                  </a:lnTo>
                  <a:lnTo>
                    <a:pt x="1638228" y="49529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090986" y="5757861"/>
              <a:ext cx="1704975" cy="495300"/>
            </a:xfrm>
            <a:custGeom>
              <a:avLst/>
              <a:gdLst/>
              <a:ahLst/>
              <a:cxnLst/>
              <a:rect l="l" t="t" r="r" b="b"/>
              <a:pathLst>
                <a:path w="1704975" h="495300">
                  <a:moveTo>
                    <a:pt x="0" y="4238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1633537" y="0"/>
                  </a:lnTo>
                  <a:lnTo>
                    <a:pt x="1638228" y="0"/>
                  </a:lnTo>
                  <a:lnTo>
                    <a:pt x="1642873" y="457"/>
                  </a:lnTo>
                  <a:lnTo>
                    <a:pt x="1673224" y="12039"/>
                  </a:lnTo>
                  <a:lnTo>
                    <a:pt x="1677125" y="14645"/>
                  </a:lnTo>
                  <a:lnTo>
                    <a:pt x="1680734" y="17606"/>
                  </a:lnTo>
                  <a:lnTo>
                    <a:pt x="1684050" y="20923"/>
                  </a:lnTo>
                  <a:lnTo>
                    <a:pt x="1687367" y="24239"/>
                  </a:lnTo>
                  <a:lnTo>
                    <a:pt x="1699536" y="44099"/>
                  </a:lnTo>
                  <a:lnTo>
                    <a:pt x="1701331" y="48433"/>
                  </a:lnTo>
                  <a:lnTo>
                    <a:pt x="1702686" y="52900"/>
                  </a:lnTo>
                  <a:lnTo>
                    <a:pt x="1703601" y="57500"/>
                  </a:lnTo>
                  <a:lnTo>
                    <a:pt x="1704517" y="62100"/>
                  </a:lnTo>
                  <a:lnTo>
                    <a:pt x="1704975" y="66746"/>
                  </a:lnTo>
                  <a:lnTo>
                    <a:pt x="1704975" y="71437"/>
                  </a:lnTo>
                  <a:lnTo>
                    <a:pt x="1704975" y="423862"/>
                  </a:lnTo>
                  <a:lnTo>
                    <a:pt x="1704975" y="428552"/>
                  </a:lnTo>
                  <a:lnTo>
                    <a:pt x="1704517" y="433198"/>
                  </a:lnTo>
                  <a:lnTo>
                    <a:pt x="1703601" y="437798"/>
                  </a:lnTo>
                  <a:lnTo>
                    <a:pt x="1702686" y="442399"/>
                  </a:lnTo>
                  <a:lnTo>
                    <a:pt x="1701331" y="446866"/>
                  </a:lnTo>
                  <a:lnTo>
                    <a:pt x="1699536" y="451200"/>
                  </a:lnTo>
                  <a:lnTo>
                    <a:pt x="1697741" y="455533"/>
                  </a:lnTo>
                  <a:lnTo>
                    <a:pt x="1684050" y="474375"/>
                  </a:lnTo>
                  <a:lnTo>
                    <a:pt x="1680734" y="477692"/>
                  </a:lnTo>
                  <a:lnTo>
                    <a:pt x="1642873" y="494841"/>
                  </a:lnTo>
                  <a:lnTo>
                    <a:pt x="1633537" y="495299"/>
                  </a:lnTo>
                  <a:lnTo>
                    <a:pt x="71437" y="495299"/>
                  </a:lnTo>
                  <a:lnTo>
                    <a:pt x="31748" y="483259"/>
                  </a:lnTo>
                  <a:lnTo>
                    <a:pt x="20923" y="474375"/>
                  </a:lnTo>
                  <a:lnTo>
                    <a:pt x="17606" y="471059"/>
                  </a:lnTo>
                  <a:lnTo>
                    <a:pt x="1372" y="437798"/>
                  </a:lnTo>
                  <a:lnTo>
                    <a:pt x="457" y="433198"/>
                  </a:lnTo>
                  <a:lnTo>
                    <a:pt x="0" y="428552"/>
                  </a:lnTo>
                  <a:lnTo>
                    <a:pt x="0" y="423862"/>
                  </a:lnTo>
                  <a:close/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4335611" y="5898794"/>
            <a:ext cx="121602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60" dirty="0">
                <a:solidFill>
                  <a:srgbClr val="B91B1B"/>
                </a:solidFill>
                <a:latin typeface="Microsoft Sans Serif" panose="020B0604020202020204"/>
                <a:cs typeface="Microsoft Sans Serif" panose="020B0604020202020204"/>
              </a:rPr>
              <a:t>See</a:t>
            </a:r>
            <a:r>
              <a:rPr sz="1150" spc="-15" dirty="0">
                <a:solidFill>
                  <a:srgbClr val="B91B1B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dirty="0">
                <a:solidFill>
                  <a:srgbClr val="B91B1B"/>
                </a:solidFill>
                <a:latin typeface="Microsoft Sans Serif" panose="020B0604020202020204"/>
                <a:cs typeface="Microsoft Sans Serif" panose="020B0604020202020204"/>
              </a:rPr>
              <a:t>a</a:t>
            </a:r>
            <a:r>
              <a:rPr sz="1150" spc="-40" dirty="0">
                <a:solidFill>
                  <a:srgbClr val="B91B1B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dirty="0">
                <a:solidFill>
                  <a:srgbClr val="B91B1B"/>
                </a:solidFill>
                <a:latin typeface="Microsoft Sans Serif" panose="020B0604020202020204"/>
                <a:cs typeface="Microsoft Sans Serif" panose="020B0604020202020204"/>
              </a:rPr>
              <a:t>doctor</a:t>
            </a:r>
            <a:r>
              <a:rPr sz="1150" spc="-30" dirty="0">
                <a:solidFill>
                  <a:srgbClr val="B91B1B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20" dirty="0">
                <a:solidFill>
                  <a:srgbClr val="B91B1B"/>
                </a:solidFill>
                <a:latin typeface="Microsoft Sans Serif" panose="020B0604020202020204"/>
                <a:cs typeface="Microsoft Sans Serif" panose="020B0604020202020204"/>
              </a:rPr>
              <a:t>today</a:t>
            </a:r>
            <a:endParaRPr sz="11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995986" y="5757861"/>
            <a:ext cx="1847850" cy="495300"/>
            <a:chOff x="5995986" y="5757861"/>
            <a:chExt cx="1847850" cy="495300"/>
          </a:xfrm>
          <a:solidFill>
            <a:srgbClr val="FFFAEB"/>
          </a:solidFill>
        </p:grpSpPr>
        <p:sp>
          <p:nvSpPr>
            <p:cNvPr id="53" name="object 53"/>
            <p:cNvSpPr/>
            <p:nvPr/>
          </p:nvSpPr>
          <p:spPr>
            <a:xfrm>
              <a:off x="5995986" y="5757861"/>
              <a:ext cx="1847850" cy="495300"/>
            </a:xfrm>
            <a:custGeom>
              <a:avLst/>
              <a:gdLst/>
              <a:ahLst/>
              <a:cxnLst/>
              <a:rect l="l" t="t" r="r" b="b"/>
              <a:pathLst>
                <a:path w="1847850" h="495300">
                  <a:moveTo>
                    <a:pt x="1781103" y="495299"/>
                  </a:moveTo>
                  <a:lnTo>
                    <a:pt x="66747" y="495299"/>
                  </a:lnTo>
                  <a:lnTo>
                    <a:pt x="62101" y="494841"/>
                  </a:lnTo>
                  <a:lnTo>
                    <a:pt x="24240" y="477692"/>
                  </a:lnTo>
                  <a:lnTo>
                    <a:pt x="2288" y="442399"/>
                  </a:lnTo>
                  <a:lnTo>
                    <a:pt x="0" y="428552"/>
                  </a:lnTo>
                  <a:lnTo>
                    <a:pt x="0" y="4238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781103" y="0"/>
                  </a:lnTo>
                  <a:lnTo>
                    <a:pt x="1820000" y="14645"/>
                  </a:lnTo>
                  <a:lnTo>
                    <a:pt x="1844207" y="48433"/>
                  </a:lnTo>
                  <a:lnTo>
                    <a:pt x="1847849" y="66746"/>
                  </a:lnTo>
                  <a:lnTo>
                    <a:pt x="1847849" y="428552"/>
                  </a:lnTo>
                  <a:lnTo>
                    <a:pt x="1833204" y="467450"/>
                  </a:lnTo>
                  <a:lnTo>
                    <a:pt x="1799416" y="491655"/>
                  </a:lnTo>
                  <a:lnTo>
                    <a:pt x="1785748" y="494841"/>
                  </a:lnTo>
                  <a:lnTo>
                    <a:pt x="1781103" y="495299"/>
                  </a:lnTo>
                  <a:close/>
                </a:path>
              </a:pathLst>
            </a:custGeom>
            <a:grpFill/>
            <a:ln>
              <a:solidFill>
                <a:srgbClr val="FCE99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995986" y="5757861"/>
              <a:ext cx="1847850" cy="495300"/>
            </a:xfrm>
            <a:custGeom>
              <a:avLst/>
              <a:gdLst/>
              <a:ahLst/>
              <a:cxnLst/>
              <a:rect l="l" t="t" r="r" b="b"/>
              <a:pathLst>
                <a:path w="1847850" h="495300">
                  <a:moveTo>
                    <a:pt x="0" y="4238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3" y="57500"/>
                  </a:lnTo>
                  <a:lnTo>
                    <a:pt x="2288" y="52900"/>
                  </a:lnTo>
                  <a:lnTo>
                    <a:pt x="3643" y="48433"/>
                  </a:lnTo>
                  <a:lnTo>
                    <a:pt x="20924" y="20923"/>
                  </a:lnTo>
                  <a:lnTo>
                    <a:pt x="24240" y="17606"/>
                  </a:lnTo>
                  <a:lnTo>
                    <a:pt x="57501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776412" y="0"/>
                  </a:lnTo>
                  <a:lnTo>
                    <a:pt x="1781103" y="0"/>
                  </a:lnTo>
                  <a:lnTo>
                    <a:pt x="1785748" y="457"/>
                  </a:lnTo>
                  <a:lnTo>
                    <a:pt x="1790349" y="1372"/>
                  </a:lnTo>
                  <a:lnTo>
                    <a:pt x="1794949" y="2287"/>
                  </a:lnTo>
                  <a:lnTo>
                    <a:pt x="1816100" y="12039"/>
                  </a:lnTo>
                  <a:lnTo>
                    <a:pt x="1820000" y="14645"/>
                  </a:lnTo>
                  <a:lnTo>
                    <a:pt x="1835810" y="31748"/>
                  </a:lnTo>
                  <a:lnTo>
                    <a:pt x="1838416" y="35648"/>
                  </a:lnTo>
                  <a:lnTo>
                    <a:pt x="1840617" y="39765"/>
                  </a:lnTo>
                  <a:lnTo>
                    <a:pt x="1842411" y="44099"/>
                  </a:lnTo>
                  <a:lnTo>
                    <a:pt x="1844207" y="48433"/>
                  </a:lnTo>
                  <a:lnTo>
                    <a:pt x="1845562" y="52900"/>
                  </a:lnTo>
                  <a:lnTo>
                    <a:pt x="1846477" y="57500"/>
                  </a:lnTo>
                  <a:lnTo>
                    <a:pt x="1847392" y="62100"/>
                  </a:lnTo>
                  <a:lnTo>
                    <a:pt x="1847849" y="66746"/>
                  </a:lnTo>
                  <a:lnTo>
                    <a:pt x="1847850" y="71437"/>
                  </a:lnTo>
                  <a:lnTo>
                    <a:pt x="1847850" y="423862"/>
                  </a:lnTo>
                  <a:lnTo>
                    <a:pt x="1847849" y="428552"/>
                  </a:lnTo>
                  <a:lnTo>
                    <a:pt x="1847392" y="433198"/>
                  </a:lnTo>
                  <a:lnTo>
                    <a:pt x="1846477" y="437798"/>
                  </a:lnTo>
                  <a:lnTo>
                    <a:pt x="1845562" y="442399"/>
                  </a:lnTo>
                  <a:lnTo>
                    <a:pt x="1844207" y="446866"/>
                  </a:lnTo>
                  <a:lnTo>
                    <a:pt x="1842411" y="451200"/>
                  </a:lnTo>
                  <a:lnTo>
                    <a:pt x="1840617" y="455533"/>
                  </a:lnTo>
                  <a:lnTo>
                    <a:pt x="1838416" y="459650"/>
                  </a:lnTo>
                  <a:lnTo>
                    <a:pt x="1835810" y="463550"/>
                  </a:lnTo>
                  <a:lnTo>
                    <a:pt x="1833204" y="467450"/>
                  </a:lnTo>
                  <a:lnTo>
                    <a:pt x="1799416" y="491655"/>
                  </a:lnTo>
                  <a:lnTo>
                    <a:pt x="1776412" y="495299"/>
                  </a:lnTo>
                  <a:lnTo>
                    <a:pt x="71438" y="495299"/>
                  </a:lnTo>
                  <a:lnTo>
                    <a:pt x="31749" y="483259"/>
                  </a:lnTo>
                  <a:lnTo>
                    <a:pt x="20924" y="474375"/>
                  </a:lnTo>
                  <a:lnTo>
                    <a:pt x="17607" y="471059"/>
                  </a:lnTo>
                  <a:lnTo>
                    <a:pt x="1373" y="437798"/>
                  </a:lnTo>
                  <a:lnTo>
                    <a:pt x="457" y="433198"/>
                  </a:lnTo>
                  <a:lnTo>
                    <a:pt x="0" y="428552"/>
                  </a:lnTo>
                  <a:lnTo>
                    <a:pt x="0" y="423862"/>
                  </a:lnTo>
                  <a:close/>
                </a:path>
              </a:pathLst>
            </a:custGeom>
            <a:grpFill/>
            <a:ln w="9524">
              <a:solidFill>
                <a:srgbClr val="FCE99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6226323" y="5898794"/>
            <a:ext cx="13855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40" dirty="0">
                <a:solidFill>
                  <a:srgbClr val="B4533C"/>
                </a:solidFill>
                <a:latin typeface="Microsoft Sans Serif" panose="020B0604020202020204"/>
                <a:cs typeface="Microsoft Sans Serif" panose="020B0604020202020204"/>
              </a:rPr>
              <a:t>Home</a:t>
            </a:r>
            <a:r>
              <a:rPr sz="1150" spc="-15" dirty="0">
                <a:solidFill>
                  <a:srgbClr val="B4533C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10" dirty="0">
                <a:solidFill>
                  <a:srgbClr val="B4533C"/>
                </a:solidFill>
                <a:latin typeface="Microsoft Sans Serif" panose="020B0604020202020204"/>
                <a:cs typeface="Microsoft Sans Serif" panose="020B0604020202020204"/>
              </a:rPr>
              <a:t>care </a:t>
            </a:r>
            <a:r>
              <a:rPr sz="1150" dirty="0">
                <a:solidFill>
                  <a:srgbClr val="B4533C"/>
                </a:solidFill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1150" spc="-10" dirty="0">
                <a:solidFill>
                  <a:srgbClr val="B4533C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65" dirty="0">
                <a:solidFill>
                  <a:srgbClr val="B4533C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r>
              <a:rPr sz="1150" spc="-45" dirty="0">
                <a:solidFill>
                  <a:srgbClr val="B4533C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50" spc="-20" dirty="0">
                <a:solidFill>
                  <a:srgbClr val="B4533C"/>
                </a:solidFill>
                <a:latin typeface="Microsoft Sans Serif" panose="020B0604020202020204"/>
                <a:cs typeface="Microsoft Sans Serif" panose="020B0604020202020204"/>
              </a:rPr>
              <a:t>days</a:t>
            </a:r>
            <a:endParaRPr sz="1150" spc="-20" dirty="0">
              <a:solidFill>
                <a:srgbClr val="B4533C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043861" y="5757861"/>
            <a:ext cx="1962150" cy="495300"/>
            <a:chOff x="8043861" y="5757861"/>
            <a:chExt cx="1962150" cy="495300"/>
          </a:xfrm>
          <a:solidFill>
            <a:srgbClr val="DFF1F1"/>
          </a:solidFill>
        </p:grpSpPr>
        <p:sp>
          <p:nvSpPr>
            <p:cNvPr id="58" name="object 58"/>
            <p:cNvSpPr/>
            <p:nvPr/>
          </p:nvSpPr>
          <p:spPr>
            <a:xfrm>
              <a:off x="8043861" y="5757861"/>
              <a:ext cx="1962150" cy="495300"/>
            </a:xfrm>
            <a:custGeom>
              <a:avLst/>
              <a:gdLst/>
              <a:ahLst/>
              <a:cxnLst/>
              <a:rect l="l" t="t" r="r" b="b"/>
              <a:pathLst>
                <a:path w="1962150" h="495300">
                  <a:moveTo>
                    <a:pt x="1895403" y="495299"/>
                  </a:moveTo>
                  <a:lnTo>
                    <a:pt x="66746" y="495299"/>
                  </a:lnTo>
                  <a:lnTo>
                    <a:pt x="62100" y="494841"/>
                  </a:lnTo>
                  <a:lnTo>
                    <a:pt x="24239" y="477692"/>
                  </a:lnTo>
                  <a:lnTo>
                    <a:pt x="2287" y="442399"/>
                  </a:lnTo>
                  <a:lnTo>
                    <a:pt x="0" y="428552"/>
                  </a:lnTo>
                  <a:lnTo>
                    <a:pt x="0" y="423862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1895403" y="0"/>
                  </a:lnTo>
                  <a:lnTo>
                    <a:pt x="1934300" y="14645"/>
                  </a:lnTo>
                  <a:lnTo>
                    <a:pt x="1958504" y="48433"/>
                  </a:lnTo>
                  <a:lnTo>
                    <a:pt x="1962149" y="66746"/>
                  </a:lnTo>
                  <a:lnTo>
                    <a:pt x="1962149" y="428552"/>
                  </a:lnTo>
                  <a:lnTo>
                    <a:pt x="1947503" y="467450"/>
                  </a:lnTo>
                  <a:lnTo>
                    <a:pt x="1913716" y="491655"/>
                  </a:lnTo>
                  <a:lnTo>
                    <a:pt x="1900048" y="494841"/>
                  </a:lnTo>
                  <a:lnTo>
                    <a:pt x="1895403" y="495299"/>
                  </a:lnTo>
                  <a:close/>
                </a:path>
              </a:pathLst>
            </a:custGeom>
            <a:grpFill/>
            <a:ln>
              <a:solidFill>
                <a:srgbClr val="98D4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8043861" y="5757861"/>
              <a:ext cx="1962150" cy="495300"/>
            </a:xfrm>
            <a:custGeom>
              <a:avLst/>
              <a:gdLst/>
              <a:ahLst/>
              <a:cxnLst/>
              <a:rect l="l" t="t" r="r" b="b"/>
              <a:pathLst>
                <a:path w="1962150" h="495300">
                  <a:moveTo>
                    <a:pt x="0" y="4238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27847" y="14645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890712" y="0"/>
                  </a:lnTo>
                  <a:lnTo>
                    <a:pt x="1895403" y="0"/>
                  </a:lnTo>
                  <a:lnTo>
                    <a:pt x="1900048" y="457"/>
                  </a:lnTo>
                  <a:lnTo>
                    <a:pt x="1937908" y="17606"/>
                  </a:lnTo>
                  <a:lnTo>
                    <a:pt x="1950108" y="31748"/>
                  </a:lnTo>
                  <a:lnTo>
                    <a:pt x="1952715" y="35648"/>
                  </a:lnTo>
                  <a:lnTo>
                    <a:pt x="1960775" y="57500"/>
                  </a:lnTo>
                  <a:lnTo>
                    <a:pt x="1961691" y="62100"/>
                  </a:lnTo>
                  <a:lnTo>
                    <a:pt x="1962149" y="66746"/>
                  </a:lnTo>
                  <a:lnTo>
                    <a:pt x="1962149" y="71437"/>
                  </a:lnTo>
                  <a:lnTo>
                    <a:pt x="1962149" y="423862"/>
                  </a:lnTo>
                  <a:lnTo>
                    <a:pt x="1962149" y="428552"/>
                  </a:lnTo>
                  <a:lnTo>
                    <a:pt x="1961691" y="433198"/>
                  </a:lnTo>
                  <a:lnTo>
                    <a:pt x="1960775" y="437798"/>
                  </a:lnTo>
                  <a:lnTo>
                    <a:pt x="1959860" y="442399"/>
                  </a:lnTo>
                  <a:lnTo>
                    <a:pt x="1950108" y="463550"/>
                  </a:lnTo>
                  <a:lnTo>
                    <a:pt x="1947503" y="467450"/>
                  </a:lnTo>
                  <a:lnTo>
                    <a:pt x="1913716" y="491655"/>
                  </a:lnTo>
                  <a:lnTo>
                    <a:pt x="1890712" y="495299"/>
                  </a:lnTo>
                  <a:lnTo>
                    <a:pt x="71437" y="495299"/>
                  </a:lnTo>
                  <a:lnTo>
                    <a:pt x="31747" y="483259"/>
                  </a:lnTo>
                  <a:lnTo>
                    <a:pt x="5436" y="451200"/>
                  </a:lnTo>
                  <a:lnTo>
                    <a:pt x="1372" y="437798"/>
                  </a:lnTo>
                  <a:lnTo>
                    <a:pt x="457" y="433198"/>
                  </a:lnTo>
                  <a:lnTo>
                    <a:pt x="0" y="428552"/>
                  </a:lnTo>
                  <a:lnTo>
                    <a:pt x="0" y="423862"/>
                  </a:lnTo>
                  <a:close/>
                </a:path>
              </a:pathLst>
            </a:custGeom>
            <a:grpFill/>
            <a:ln w="9524">
              <a:solidFill>
                <a:srgbClr val="98D4C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8271817" y="5896623"/>
            <a:ext cx="150368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5" dirty="0">
                <a:solidFill>
                  <a:srgbClr val="00698E"/>
                </a:solidFill>
                <a:latin typeface="Microsoft Sans Serif" panose="020B0604020202020204"/>
                <a:cs typeface="Microsoft Sans Serif" panose="020B0604020202020204"/>
              </a:rPr>
              <a:t>Outbreak</a:t>
            </a:r>
            <a:r>
              <a:rPr sz="1150" spc="-30" dirty="0">
                <a:solidFill>
                  <a:srgbClr val="00698E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dirty="0">
                <a:solidFill>
                  <a:srgbClr val="00698E"/>
                </a:solidFill>
                <a:latin typeface="Microsoft Sans Serif" panose="020B0604020202020204"/>
                <a:cs typeface="Microsoft Sans Serif" panose="020B0604020202020204"/>
              </a:rPr>
              <a:t>early</a:t>
            </a:r>
            <a:r>
              <a:rPr sz="1150" spc="-25" dirty="0">
                <a:solidFill>
                  <a:srgbClr val="00698E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150" spc="-10" dirty="0">
                <a:solidFill>
                  <a:srgbClr val="00698E"/>
                </a:solidFill>
                <a:latin typeface="Microsoft Sans Serif" panose="020B0604020202020204"/>
                <a:cs typeface="Microsoft Sans Serif" panose="020B0604020202020204"/>
              </a:rPr>
              <a:t>warning</a:t>
            </a:r>
            <a:endParaRPr sz="1150" spc="-10" dirty="0">
              <a:solidFill>
                <a:srgbClr val="00698E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1362074"/>
            <a:ext cx="10668000" cy="19050"/>
          </a:xfrm>
          <a:custGeom>
            <a:avLst/>
            <a:gdLst/>
            <a:ahLst/>
            <a:cxnLst/>
            <a:rect l="l" t="t" r="r" b="b"/>
            <a:pathLst>
              <a:path w="10668000" h="19050">
                <a:moveTo>
                  <a:pt x="10667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0667999" y="0"/>
                </a:lnTo>
                <a:lnTo>
                  <a:pt x="10667999" y="1904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299" y="567635"/>
            <a:ext cx="368617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spc="-110" dirty="0">
                <a:solidFill>
                  <a:srgbClr val="003366"/>
                </a:solidFill>
              </a:rPr>
              <a:t>Technology</a:t>
            </a:r>
            <a:r>
              <a:rPr sz="3400" spc="-185" dirty="0">
                <a:solidFill>
                  <a:srgbClr val="003366"/>
                </a:solidFill>
              </a:rPr>
              <a:t> </a:t>
            </a:r>
            <a:r>
              <a:rPr sz="3450" spc="-260" dirty="0">
                <a:solidFill>
                  <a:srgbClr val="003366"/>
                </a:solidFill>
                <a:latin typeface="Candara" panose="020E0502030303020204"/>
                <a:cs typeface="Candara" panose="020E0502030303020204"/>
              </a:rPr>
              <a:t>&amp;</a:t>
            </a:r>
            <a:r>
              <a:rPr sz="3450" spc="15" dirty="0">
                <a:solidFill>
                  <a:srgbClr val="003366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3400" spc="-25" dirty="0">
                <a:solidFill>
                  <a:srgbClr val="003366"/>
                </a:solidFill>
              </a:rPr>
              <a:t>Data</a:t>
            </a:r>
            <a:endParaRPr sz="3400">
              <a:latin typeface="Candara" panose="020E0502030303020204"/>
              <a:cs typeface="Candara" panose="020E0502030303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299" y="1746094"/>
            <a:ext cx="156146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TECH</a:t>
            </a:r>
            <a:r>
              <a:rPr sz="1950" b="1" spc="-105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b="1" spc="-75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STACK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1999" y="2486024"/>
            <a:ext cx="5048568" cy="1200150"/>
            <a:chOff x="761999" y="2486024"/>
            <a:chExt cx="5048568" cy="1200150"/>
          </a:xfrm>
        </p:grpSpPr>
        <p:sp>
          <p:nvSpPr>
            <p:cNvPr id="7" name="object 7"/>
            <p:cNvSpPr/>
            <p:nvPr/>
          </p:nvSpPr>
          <p:spPr>
            <a:xfrm>
              <a:off x="785812" y="2486024"/>
              <a:ext cx="5024755" cy="1200150"/>
            </a:xfrm>
            <a:custGeom>
              <a:avLst/>
              <a:gdLst/>
              <a:ahLst/>
              <a:cxnLst/>
              <a:rect l="l" t="t" r="r" b="b"/>
              <a:pathLst>
                <a:path w="5024755" h="1200150">
                  <a:moveTo>
                    <a:pt x="4991389" y="1200149"/>
                  </a:moveTo>
                  <a:lnTo>
                    <a:pt x="12392" y="1200149"/>
                  </a:lnTo>
                  <a:lnTo>
                    <a:pt x="10570" y="1199182"/>
                  </a:lnTo>
                  <a:lnTo>
                    <a:pt x="0" y="1167102"/>
                  </a:lnTo>
                  <a:lnTo>
                    <a:pt x="0" y="1162049"/>
                  </a:lnTo>
                  <a:lnTo>
                    <a:pt x="0" y="33047"/>
                  </a:lnTo>
                  <a:lnTo>
                    <a:pt x="12392" y="0"/>
                  </a:lnTo>
                  <a:lnTo>
                    <a:pt x="4991389" y="0"/>
                  </a:lnTo>
                  <a:lnTo>
                    <a:pt x="5023469" y="28187"/>
                  </a:lnTo>
                  <a:lnTo>
                    <a:pt x="5024436" y="33047"/>
                  </a:lnTo>
                  <a:lnTo>
                    <a:pt x="5024436" y="1167102"/>
                  </a:lnTo>
                  <a:lnTo>
                    <a:pt x="4996248" y="1199182"/>
                  </a:lnTo>
                  <a:lnTo>
                    <a:pt x="4991389" y="1200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61999" y="2486024"/>
              <a:ext cx="47625" cy="1200150"/>
            </a:xfrm>
            <a:custGeom>
              <a:avLst/>
              <a:gdLst/>
              <a:ahLst/>
              <a:cxnLst/>
              <a:rect l="l" t="t" r="r" b="b"/>
              <a:pathLst>
                <a:path w="47625" h="1200150">
                  <a:moveTo>
                    <a:pt x="47624" y="1200149"/>
                  </a:moveTo>
                  <a:lnTo>
                    <a:pt x="38099" y="1200149"/>
                  </a:lnTo>
                  <a:lnTo>
                    <a:pt x="30498" y="1199452"/>
                  </a:lnTo>
                  <a:lnTo>
                    <a:pt x="697" y="1169651"/>
                  </a:lnTo>
                  <a:lnTo>
                    <a:pt x="0" y="11620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7624" y="0"/>
                  </a:lnTo>
                  <a:lnTo>
                    <a:pt x="47624" y="120014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87425" y="2529658"/>
            <a:ext cx="4481830" cy="95567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700" b="1" spc="-100" dirty="0">
                <a:solidFill>
                  <a:srgbClr val="F29C12"/>
                </a:solidFill>
                <a:latin typeface="Arial" panose="020B0604020202020204"/>
                <a:cs typeface="Arial" panose="020B0604020202020204"/>
              </a:rPr>
              <a:t>RapidMiner</a:t>
            </a:r>
            <a:r>
              <a:rPr sz="1700" b="1" spc="-80" dirty="0">
                <a:solidFill>
                  <a:srgbClr val="F29C1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85" dirty="0">
                <a:solidFill>
                  <a:srgbClr val="F29C12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700" b="1" spc="-75" dirty="0">
                <a:solidFill>
                  <a:srgbClr val="F29C1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solidFill>
                  <a:srgbClr val="F29C12"/>
                </a:solidFill>
                <a:latin typeface="Arial" panose="020B0604020202020204"/>
                <a:cs typeface="Arial" panose="020B0604020202020204"/>
              </a:rPr>
              <a:t>Studio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4000"/>
              </a:lnSpc>
              <a:spcBef>
                <a:spcPts val="630"/>
              </a:spcBef>
            </a:pPr>
            <a:r>
              <a:rPr sz="1300" spc="-25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1300" spc="-15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preprocessing</a:t>
            </a:r>
            <a:r>
              <a:rPr sz="1350" b="1" spc="-10" dirty="0">
                <a:solidFill>
                  <a:srgbClr val="465469"/>
                </a:solidFill>
                <a:latin typeface="Roboto Bk"/>
                <a:cs typeface="Roboto Bk"/>
              </a:rPr>
              <a:t>,</a:t>
            </a:r>
            <a:r>
              <a:rPr sz="1350" b="1" spc="-5" dirty="0">
                <a:solidFill>
                  <a:srgbClr val="465469"/>
                </a:solidFill>
                <a:latin typeface="Roboto Bk"/>
                <a:cs typeface="Roboto Bk"/>
              </a:rPr>
              <a:t> </a:t>
            </a:r>
            <a:r>
              <a:rPr sz="130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feature</a:t>
            </a:r>
            <a:r>
              <a:rPr sz="1300" spc="-1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 engineering</a:t>
            </a:r>
            <a:r>
              <a:rPr sz="1350" b="1" spc="-10" dirty="0">
                <a:solidFill>
                  <a:srgbClr val="465469"/>
                </a:solidFill>
                <a:latin typeface="Roboto Bk"/>
                <a:cs typeface="Roboto Bk"/>
              </a:rPr>
              <a:t>,</a:t>
            </a:r>
            <a:r>
              <a:rPr sz="1350" b="1" spc="-5" dirty="0">
                <a:solidFill>
                  <a:srgbClr val="465469"/>
                </a:solidFill>
                <a:latin typeface="Roboto Bk"/>
                <a:cs typeface="Roboto Bk"/>
              </a:rPr>
              <a:t> </a:t>
            </a:r>
            <a:r>
              <a:rPr sz="130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predictive</a:t>
            </a:r>
            <a:r>
              <a:rPr sz="1300" spc="-1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3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modeling</a:t>
            </a:r>
            <a:r>
              <a:rPr sz="1350" b="1" spc="-30" dirty="0">
                <a:solidFill>
                  <a:srgbClr val="465469"/>
                </a:solidFill>
                <a:latin typeface="Roboto Bk"/>
                <a:cs typeface="Roboto Bk"/>
              </a:rPr>
              <a:t>, </a:t>
            </a:r>
            <a:r>
              <a:rPr sz="130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pattern</a:t>
            </a:r>
            <a:r>
              <a:rPr sz="1300" spc="-5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detection</a:t>
            </a:r>
            <a:endParaRPr sz="13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61999" y="3971924"/>
            <a:ext cx="5048568" cy="1200150"/>
            <a:chOff x="761999" y="3971924"/>
            <a:chExt cx="5048568" cy="1200150"/>
          </a:xfrm>
        </p:grpSpPr>
        <p:sp>
          <p:nvSpPr>
            <p:cNvPr id="12" name="object 12"/>
            <p:cNvSpPr/>
            <p:nvPr/>
          </p:nvSpPr>
          <p:spPr>
            <a:xfrm>
              <a:off x="785812" y="3971924"/>
              <a:ext cx="5024755" cy="1200150"/>
            </a:xfrm>
            <a:custGeom>
              <a:avLst/>
              <a:gdLst/>
              <a:ahLst/>
              <a:cxnLst/>
              <a:rect l="l" t="t" r="r" b="b"/>
              <a:pathLst>
                <a:path w="5024755" h="1200150">
                  <a:moveTo>
                    <a:pt x="4991389" y="1200149"/>
                  </a:moveTo>
                  <a:lnTo>
                    <a:pt x="12392" y="1200149"/>
                  </a:lnTo>
                  <a:lnTo>
                    <a:pt x="10570" y="1199182"/>
                  </a:lnTo>
                  <a:lnTo>
                    <a:pt x="0" y="1167101"/>
                  </a:lnTo>
                  <a:lnTo>
                    <a:pt x="0" y="1162049"/>
                  </a:lnTo>
                  <a:lnTo>
                    <a:pt x="0" y="33047"/>
                  </a:lnTo>
                  <a:lnTo>
                    <a:pt x="12392" y="0"/>
                  </a:lnTo>
                  <a:lnTo>
                    <a:pt x="4991389" y="0"/>
                  </a:lnTo>
                  <a:lnTo>
                    <a:pt x="5023469" y="28186"/>
                  </a:lnTo>
                  <a:lnTo>
                    <a:pt x="5024436" y="33047"/>
                  </a:lnTo>
                  <a:lnTo>
                    <a:pt x="5024436" y="1167101"/>
                  </a:lnTo>
                  <a:lnTo>
                    <a:pt x="4996248" y="1199182"/>
                  </a:lnTo>
                  <a:lnTo>
                    <a:pt x="4991389" y="1200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61999" y="3971924"/>
              <a:ext cx="47625" cy="1200150"/>
            </a:xfrm>
            <a:custGeom>
              <a:avLst/>
              <a:gdLst/>
              <a:ahLst/>
              <a:cxnLst/>
              <a:rect l="l" t="t" r="r" b="b"/>
              <a:pathLst>
                <a:path w="47625" h="1200150">
                  <a:moveTo>
                    <a:pt x="47624" y="1200149"/>
                  </a:moveTo>
                  <a:lnTo>
                    <a:pt x="38099" y="1200149"/>
                  </a:lnTo>
                  <a:lnTo>
                    <a:pt x="30498" y="1199452"/>
                  </a:lnTo>
                  <a:lnTo>
                    <a:pt x="697" y="1169651"/>
                  </a:lnTo>
                  <a:lnTo>
                    <a:pt x="0" y="11620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7624" y="0"/>
                  </a:lnTo>
                  <a:lnTo>
                    <a:pt x="47624" y="120014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87425" y="4015558"/>
            <a:ext cx="4465320" cy="95567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700" b="1" spc="-80" dirty="0">
                <a:solidFill>
                  <a:srgbClr val="2980B9"/>
                </a:solidFill>
                <a:latin typeface="Arial" panose="020B0604020202020204"/>
                <a:cs typeface="Arial" panose="020B0604020202020204"/>
              </a:rPr>
              <a:t>Mendix</a:t>
            </a:r>
            <a:r>
              <a:rPr sz="1700" b="1" spc="-75" dirty="0">
                <a:solidFill>
                  <a:srgbClr val="2980B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100" dirty="0">
                <a:solidFill>
                  <a:srgbClr val="2980B9"/>
                </a:solidFill>
                <a:latin typeface="Arial" panose="020B0604020202020204"/>
                <a:cs typeface="Arial" panose="020B0604020202020204"/>
              </a:rPr>
              <a:t>Studio</a:t>
            </a:r>
            <a:r>
              <a:rPr sz="1700" b="1" spc="-70" dirty="0">
                <a:solidFill>
                  <a:srgbClr val="2980B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25" dirty="0">
                <a:solidFill>
                  <a:srgbClr val="2980B9"/>
                </a:solidFill>
                <a:latin typeface="Arial" panose="020B0604020202020204"/>
                <a:cs typeface="Arial" panose="020B0604020202020204"/>
              </a:rPr>
              <a:t>Pro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4000"/>
              </a:lnSpc>
              <a:spcBef>
                <a:spcPts val="630"/>
              </a:spcBef>
            </a:pPr>
            <a:r>
              <a:rPr sz="130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Application</a:t>
            </a:r>
            <a:r>
              <a:rPr sz="1300" spc="-35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interface</a:t>
            </a:r>
            <a:r>
              <a:rPr sz="1350" b="1" dirty="0">
                <a:solidFill>
                  <a:srgbClr val="465469"/>
                </a:solidFill>
                <a:latin typeface="Roboto Bk"/>
                <a:cs typeface="Roboto Bk"/>
              </a:rPr>
              <a:t>,</a:t>
            </a:r>
            <a:r>
              <a:rPr sz="1350" b="1" spc="-20" dirty="0">
                <a:solidFill>
                  <a:srgbClr val="465469"/>
                </a:solidFill>
                <a:latin typeface="Roboto Bk"/>
                <a:cs typeface="Roboto Bk"/>
              </a:rPr>
              <a:t> </a:t>
            </a:r>
            <a:r>
              <a:rPr sz="130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patient</a:t>
            </a:r>
            <a:r>
              <a:rPr sz="1300" spc="-3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dashboard</a:t>
            </a:r>
            <a:r>
              <a:rPr sz="1350" b="1" spc="-10" dirty="0">
                <a:solidFill>
                  <a:srgbClr val="465469"/>
                </a:solidFill>
                <a:latin typeface="Roboto Bk"/>
                <a:cs typeface="Roboto Bk"/>
              </a:rPr>
              <a:t>,</a:t>
            </a:r>
            <a:r>
              <a:rPr sz="1350" b="1" spc="-20" dirty="0">
                <a:solidFill>
                  <a:srgbClr val="465469"/>
                </a:solidFill>
                <a:latin typeface="Roboto Bk"/>
                <a:cs typeface="Roboto Bk"/>
              </a:rPr>
              <a:t> </a:t>
            </a:r>
            <a:r>
              <a:rPr sz="1300" spc="-55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ASHA</a:t>
            </a:r>
            <a:r>
              <a:rPr sz="1300" spc="-3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worker</a:t>
            </a:r>
            <a:r>
              <a:rPr sz="1300" spc="-3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portal</a:t>
            </a:r>
            <a:r>
              <a:rPr sz="1350" b="1" spc="-10" dirty="0">
                <a:solidFill>
                  <a:srgbClr val="465469"/>
                </a:solidFill>
                <a:latin typeface="Roboto Bk"/>
                <a:cs typeface="Roboto Bk"/>
              </a:rPr>
              <a:t>, </a:t>
            </a:r>
            <a:r>
              <a:rPr sz="130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health</a:t>
            </a:r>
            <a:r>
              <a:rPr sz="1300" spc="-75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map</a:t>
            </a:r>
            <a:r>
              <a:rPr sz="1300" spc="-75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465469"/>
                </a:solidFill>
                <a:latin typeface="Microsoft Sans Serif" panose="020B0604020202020204"/>
                <a:cs typeface="Microsoft Sans Serif" panose="020B0604020202020204"/>
              </a:rPr>
              <a:t>visualization</a:t>
            </a:r>
            <a:endParaRPr sz="13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69049" y="1746094"/>
            <a:ext cx="127571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-85" dirty="0">
                <a:solidFill>
                  <a:srgbClr val="545454"/>
                </a:solidFill>
                <a:latin typeface="Arial" panose="020B0604020202020204"/>
                <a:cs typeface="Arial" panose="020B0604020202020204"/>
              </a:rPr>
              <a:t>DATASETS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81749" y="2486024"/>
            <a:ext cx="5048567" cy="1447800"/>
            <a:chOff x="6381749" y="2486024"/>
            <a:chExt cx="5048567" cy="1447800"/>
          </a:xfrm>
        </p:grpSpPr>
        <p:sp>
          <p:nvSpPr>
            <p:cNvPr id="18" name="object 18"/>
            <p:cNvSpPr/>
            <p:nvPr/>
          </p:nvSpPr>
          <p:spPr>
            <a:xfrm>
              <a:off x="6405561" y="2486024"/>
              <a:ext cx="5024755" cy="1447800"/>
            </a:xfrm>
            <a:custGeom>
              <a:avLst/>
              <a:gdLst/>
              <a:ahLst/>
              <a:cxnLst/>
              <a:rect l="l" t="t" r="r" b="b"/>
              <a:pathLst>
                <a:path w="5024755" h="1447800">
                  <a:moveTo>
                    <a:pt x="4991389" y="1447799"/>
                  </a:moveTo>
                  <a:lnTo>
                    <a:pt x="12392" y="1447799"/>
                  </a:lnTo>
                  <a:lnTo>
                    <a:pt x="10569" y="1446832"/>
                  </a:lnTo>
                  <a:lnTo>
                    <a:pt x="0" y="1414752"/>
                  </a:lnTo>
                  <a:lnTo>
                    <a:pt x="0" y="1409699"/>
                  </a:lnTo>
                  <a:lnTo>
                    <a:pt x="0" y="33047"/>
                  </a:lnTo>
                  <a:lnTo>
                    <a:pt x="12392" y="0"/>
                  </a:lnTo>
                  <a:lnTo>
                    <a:pt x="4991389" y="0"/>
                  </a:lnTo>
                  <a:lnTo>
                    <a:pt x="5023469" y="28187"/>
                  </a:lnTo>
                  <a:lnTo>
                    <a:pt x="5024436" y="33047"/>
                  </a:lnTo>
                  <a:lnTo>
                    <a:pt x="5024436" y="1414752"/>
                  </a:lnTo>
                  <a:lnTo>
                    <a:pt x="4996248" y="1446832"/>
                  </a:lnTo>
                  <a:lnTo>
                    <a:pt x="4991389" y="14477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381749" y="2486024"/>
              <a:ext cx="47625" cy="1447800"/>
            </a:xfrm>
            <a:custGeom>
              <a:avLst/>
              <a:gdLst/>
              <a:ahLst/>
              <a:cxnLst/>
              <a:rect l="l" t="t" r="r" b="b"/>
              <a:pathLst>
                <a:path w="47625" h="1447800">
                  <a:moveTo>
                    <a:pt x="47624" y="1447799"/>
                  </a:moveTo>
                  <a:lnTo>
                    <a:pt x="38099" y="1447799"/>
                  </a:lnTo>
                  <a:lnTo>
                    <a:pt x="30497" y="1447102"/>
                  </a:lnTo>
                  <a:lnTo>
                    <a:pt x="697" y="1417301"/>
                  </a:lnTo>
                  <a:lnTo>
                    <a:pt x="0" y="14096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7624" y="0"/>
                  </a:lnTo>
                  <a:lnTo>
                    <a:pt x="47624" y="144779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607175" y="2533646"/>
            <a:ext cx="4519295" cy="120523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500" b="1" spc="-70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Disease</a:t>
            </a:r>
            <a:r>
              <a:rPr sz="1500" b="1" spc="-55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85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Symptom</a:t>
            </a:r>
            <a:r>
              <a:rPr sz="1500" b="1" spc="-55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70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Prediction</a:t>
            </a:r>
            <a:r>
              <a:rPr sz="1500" b="1" spc="-50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50" spc="-80" dirty="0">
                <a:solidFill>
                  <a:srgbClr val="054E3B"/>
                </a:solidFill>
                <a:latin typeface="Arial Black" panose="020B0A04020102020204"/>
                <a:cs typeface="Arial Black" panose="020B0A04020102020204"/>
              </a:rPr>
              <a:t>(</a:t>
            </a:r>
            <a:r>
              <a:rPr sz="1500" b="1" spc="-80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Pranay</a:t>
            </a:r>
            <a:r>
              <a:rPr sz="1500" b="1" spc="-55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70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Patil</a:t>
            </a:r>
            <a:r>
              <a:rPr sz="1550" spc="-70" dirty="0">
                <a:solidFill>
                  <a:srgbClr val="054E3B"/>
                </a:solidFill>
                <a:latin typeface="Arial Black" panose="020B0A04020102020204"/>
                <a:cs typeface="Arial Black" panose="020B0A04020102020204"/>
              </a:rPr>
              <a:t>,</a:t>
            </a:r>
            <a:r>
              <a:rPr sz="1550" spc="-195" dirty="0">
                <a:solidFill>
                  <a:srgbClr val="054E3B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b="1" spc="-10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Kaggle</a:t>
            </a:r>
            <a:r>
              <a:rPr sz="1550" spc="-10" dirty="0">
                <a:solidFill>
                  <a:srgbClr val="054E3B"/>
                </a:solidFill>
                <a:latin typeface="Arial Black" panose="020B0A04020102020204"/>
                <a:cs typeface="Arial Black" panose="020B0A04020102020204"/>
              </a:rPr>
              <a:t>)</a:t>
            </a:r>
            <a:endParaRPr sz="1550">
              <a:latin typeface="Arial Black" panose="020B0A04020102020204"/>
              <a:cs typeface="Arial Black" panose="020B0A04020102020204"/>
            </a:endParaRPr>
          </a:p>
          <a:p>
            <a:pPr marL="12700" marR="5080">
              <a:lnSpc>
                <a:spcPct val="115000"/>
              </a:lnSpc>
              <a:spcBef>
                <a:spcPts val="625"/>
              </a:spcBef>
            </a:pPr>
            <a:r>
              <a:rPr sz="1300" spc="-10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41</a:t>
            </a:r>
            <a:r>
              <a:rPr sz="1300" spc="-1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2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diseases,</a:t>
            </a:r>
            <a:r>
              <a:rPr sz="1300" spc="-7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65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132</a:t>
            </a:r>
            <a:r>
              <a:rPr sz="1300" spc="-2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symptoms</a:t>
            </a:r>
            <a:r>
              <a:rPr sz="1300" spc="-45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44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—</a:t>
            </a:r>
            <a:r>
              <a:rPr sz="1300" spc="-4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maps</a:t>
            </a:r>
            <a:r>
              <a:rPr sz="1300" spc="-35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symptom</a:t>
            </a:r>
            <a:r>
              <a:rPr sz="1300" spc="-35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combinations</a:t>
            </a:r>
            <a:r>
              <a:rPr sz="1300" spc="-35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55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to </a:t>
            </a:r>
            <a:r>
              <a:rPr sz="1300" spc="-1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disease</a:t>
            </a:r>
            <a:r>
              <a:rPr sz="1300" spc="-6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predictions</a:t>
            </a:r>
            <a:endParaRPr sz="130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50" b="1" spc="-65" dirty="0">
                <a:solidFill>
                  <a:srgbClr val="049569"/>
                </a:solidFill>
                <a:latin typeface="Arial" panose="020B0604020202020204"/>
                <a:cs typeface="Arial" panose="020B0604020202020204"/>
              </a:rPr>
              <a:t>61,134</a:t>
            </a:r>
            <a:r>
              <a:rPr sz="1150" b="1" spc="-40" dirty="0">
                <a:solidFill>
                  <a:srgbClr val="0495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50" b="1" spc="-55" dirty="0">
                <a:solidFill>
                  <a:srgbClr val="049569"/>
                </a:solidFill>
                <a:latin typeface="Arial" panose="020B0604020202020204"/>
                <a:cs typeface="Arial" panose="020B0604020202020204"/>
              </a:rPr>
              <a:t>downloads</a:t>
            </a:r>
            <a:r>
              <a:rPr sz="1150" b="1" spc="-30" dirty="0">
                <a:solidFill>
                  <a:srgbClr val="0495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50" b="1" spc="-110" dirty="0">
                <a:solidFill>
                  <a:srgbClr val="049569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1150" b="1" spc="-30" dirty="0">
                <a:solidFill>
                  <a:srgbClr val="0495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50" b="1" spc="-50" dirty="0">
                <a:solidFill>
                  <a:srgbClr val="049569"/>
                </a:solidFill>
                <a:latin typeface="Arial" panose="020B0604020202020204"/>
                <a:cs typeface="Arial" panose="020B0604020202020204"/>
              </a:rPr>
              <a:t>proven,</a:t>
            </a:r>
            <a:r>
              <a:rPr sz="1150" b="1" spc="-60" dirty="0">
                <a:solidFill>
                  <a:srgbClr val="0495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50" b="1" spc="-35" dirty="0">
                <a:solidFill>
                  <a:srgbClr val="049569"/>
                </a:solidFill>
                <a:latin typeface="Arial" panose="020B0604020202020204"/>
                <a:cs typeface="Arial" panose="020B0604020202020204"/>
              </a:rPr>
              <a:t>widely</a:t>
            </a:r>
            <a:r>
              <a:rPr sz="1150" b="1" spc="-25" dirty="0">
                <a:solidFill>
                  <a:srgbClr val="04956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50" b="1" spc="-10" dirty="0">
                <a:solidFill>
                  <a:srgbClr val="049569"/>
                </a:solidFill>
                <a:latin typeface="Arial" panose="020B0604020202020204"/>
                <a:cs typeface="Arial" panose="020B0604020202020204"/>
              </a:rPr>
              <a:t>validated</a:t>
            </a:r>
            <a:endParaRPr sz="11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81749" y="4219574"/>
            <a:ext cx="5048567" cy="1247775"/>
            <a:chOff x="6381749" y="4219574"/>
            <a:chExt cx="5048567" cy="1247775"/>
          </a:xfrm>
        </p:grpSpPr>
        <p:sp>
          <p:nvSpPr>
            <p:cNvPr id="23" name="object 23"/>
            <p:cNvSpPr/>
            <p:nvPr/>
          </p:nvSpPr>
          <p:spPr>
            <a:xfrm>
              <a:off x="6405561" y="4219574"/>
              <a:ext cx="5024755" cy="1247775"/>
            </a:xfrm>
            <a:custGeom>
              <a:avLst/>
              <a:gdLst/>
              <a:ahLst/>
              <a:cxnLst/>
              <a:rect l="l" t="t" r="r" b="b"/>
              <a:pathLst>
                <a:path w="5024755" h="1247775">
                  <a:moveTo>
                    <a:pt x="4991389" y="1247774"/>
                  </a:moveTo>
                  <a:lnTo>
                    <a:pt x="12392" y="1247774"/>
                  </a:lnTo>
                  <a:lnTo>
                    <a:pt x="10569" y="1246807"/>
                  </a:lnTo>
                  <a:lnTo>
                    <a:pt x="0" y="1214726"/>
                  </a:lnTo>
                  <a:lnTo>
                    <a:pt x="0" y="1209674"/>
                  </a:lnTo>
                  <a:lnTo>
                    <a:pt x="0" y="33047"/>
                  </a:lnTo>
                  <a:lnTo>
                    <a:pt x="12392" y="0"/>
                  </a:lnTo>
                  <a:lnTo>
                    <a:pt x="4991389" y="0"/>
                  </a:lnTo>
                  <a:lnTo>
                    <a:pt x="5023469" y="28186"/>
                  </a:lnTo>
                  <a:lnTo>
                    <a:pt x="5024436" y="33047"/>
                  </a:lnTo>
                  <a:lnTo>
                    <a:pt x="5024436" y="1214726"/>
                  </a:lnTo>
                  <a:lnTo>
                    <a:pt x="4996248" y="1246807"/>
                  </a:lnTo>
                  <a:lnTo>
                    <a:pt x="4991389" y="124777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381749" y="4219574"/>
              <a:ext cx="47625" cy="1247775"/>
            </a:xfrm>
            <a:custGeom>
              <a:avLst/>
              <a:gdLst/>
              <a:ahLst/>
              <a:cxnLst/>
              <a:rect l="l" t="t" r="r" b="b"/>
              <a:pathLst>
                <a:path w="47625" h="1247775">
                  <a:moveTo>
                    <a:pt x="47624" y="1247774"/>
                  </a:moveTo>
                  <a:lnTo>
                    <a:pt x="38099" y="1247774"/>
                  </a:lnTo>
                  <a:lnTo>
                    <a:pt x="30497" y="1247077"/>
                  </a:lnTo>
                  <a:lnTo>
                    <a:pt x="697" y="1217276"/>
                  </a:lnTo>
                  <a:lnTo>
                    <a:pt x="0" y="1209674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7624" y="0"/>
                  </a:lnTo>
                  <a:lnTo>
                    <a:pt x="47624" y="1247774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607175" y="4267196"/>
            <a:ext cx="4455795" cy="92329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500" b="1" spc="-75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Doctor</a:t>
            </a:r>
            <a:r>
              <a:rPr sz="1500" b="1" spc="-30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55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Specialty</a:t>
            </a:r>
            <a:r>
              <a:rPr sz="1500" b="1" spc="-30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85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Recommendation</a:t>
            </a:r>
            <a:r>
              <a:rPr sz="1500" b="1" spc="-25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50" spc="-95" dirty="0">
                <a:solidFill>
                  <a:srgbClr val="054E3B"/>
                </a:solidFill>
                <a:latin typeface="Arial Black" panose="020B0A04020102020204"/>
                <a:cs typeface="Arial Black" panose="020B0A04020102020204"/>
              </a:rPr>
              <a:t>(</a:t>
            </a:r>
            <a:r>
              <a:rPr sz="1500" b="1" spc="-95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Ebrahim</a:t>
            </a:r>
            <a:r>
              <a:rPr sz="1500" b="1" spc="-30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40" dirty="0">
                <a:solidFill>
                  <a:srgbClr val="054E3B"/>
                </a:solidFill>
                <a:latin typeface="Arial" panose="020B0604020202020204"/>
                <a:cs typeface="Arial" panose="020B0604020202020204"/>
              </a:rPr>
              <a:t>Elgazar</a:t>
            </a:r>
            <a:r>
              <a:rPr sz="1550" spc="-40" dirty="0">
                <a:solidFill>
                  <a:srgbClr val="054E3B"/>
                </a:solidFill>
                <a:latin typeface="Arial Black" panose="020B0A04020102020204"/>
                <a:cs typeface="Arial Black" panose="020B0A04020102020204"/>
              </a:rPr>
              <a:t>)</a:t>
            </a:r>
            <a:endParaRPr sz="1550">
              <a:latin typeface="Arial Black" panose="020B0A04020102020204"/>
              <a:cs typeface="Arial Black" panose="020B0A04020102020204"/>
            </a:endParaRPr>
          </a:p>
          <a:p>
            <a:pPr marL="12700" marR="76200">
              <a:lnSpc>
                <a:spcPct val="115000"/>
              </a:lnSpc>
              <a:spcBef>
                <a:spcPts val="625"/>
              </a:spcBef>
            </a:pPr>
            <a:r>
              <a:rPr sz="130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Maps predicted</a:t>
            </a:r>
            <a:r>
              <a:rPr sz="1300" spc="5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1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diseases</a:t>
            </a:r>
            <a:r>
              <a:rPr sz="130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to</a:t>
            </a:r>
            <a:r>
              <a:rPr sz="1300" spc="5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the</a:t>
            </a:r>
            <a:r>
              <a:rPr sz="1300" spc="5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correct doctor</a:t>
            </a:r>
            <a:r>
              <a:rPr sz="1300" spc="5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00" spc="-2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specialization </a:t>
            </a:r>
            <a:r>
              <a:rPr sz="1300" spc="-10" dirty="0">
                <a:solidFill>
                  <a:srgbClr val="055E45"/>
                </a:solidFill>
                <a:latin typeface="Microsoft Sans Serif" panose="020B0604020202020204"/>
                <a:cs typeface="Microsoft Sans Serif" panose="020B0604020202020204"/>
              </a:rPr>
              <a:t>automatically</a:t>
            </a:r>
            <a:endParaRPr sz="13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61999" y="5743574"/>
            <a:ext cx="10668000" cy="542925"/>
          </a:xfrm>
          <a:custGeom>
            <a:avLst/>
            <a:gdLst/>
            <a:ahLst/>
            <a:cxnLst/>
            <a:rect l="l" t="t" r="r" b="b"/>
            <a:pathLst>
              <a:path w="10668000" h="542925">
                <a:moveTo>
                  <a:pt x="10596802" y="542924"/>
                </a:moveTo>
                <a:lnTo>
                  <a:pt x="71196" y="542924"/>
                </a:lnTo>
                <a:lnTo>
                  <a:pt x="66241" y="542436"/>
                </a:lnTo>
                <a:lnTo>
                  <a:pt x="29705" y="527302"/>
                </a:lnTo>
                <a:lnTo>
                  <a:pt x="3885" y="491262"/>
                </a:lnTo>
                <a:lnTo>
                  <a:pt x="0" y="471728"/>
                </a:lnTo>
                <a:lnTo>
                  <a:pt x="0" y="466724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10596802" y="0"/>
                </a:lnTo>
                <a:lnTo>
                  <a:pt x="10638292" y="15620"/>
                </a:lnTo>
                <a:lnTo>
                  <a:pt x="10664112" y="51661"/>
                </a:lnTo>
                <a:lnTo>
                  <a:pt x="10667998" y="71196"/>
                </a:lnTo>
                <a:lnTo>
                  <a:pt x="10667998" y="471728"/>
                </a:lnTo>
                <a:lnTo>
                  <a:pt x="10652375" y="513218"/>
                </a:lnTo>
                <a:lnTo>
                  <a:pt x="10616336" y="539038"/>
                </a:lnTo>
                <a:lnTo>
                  <a:pt x="10601756" y="542436"/>
                </a:lnTo>
                <a:lnTo>
                  <a:pt x="10596802" y="54292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718742" y="5866010"/>
            <a:ext cx="675449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726690" algn="l"/>
                <a:tab pos="3041015" algn="l"/>
                <a:tab pos="3828415" algn="l"/>
                <a:tab pos="4142740" algn="l"/>
                <a:tab pos="5294630" algn="l"/>
                <a:tab pos="5608955" algn="l"/>
              </a:tabLst>
            </a:pPr>
            <a:r>
              <a:rPr sz="1500" spc="-4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End</a:t>
            </a:r>
            <a:r>
              <a:rPr sz="1550" spc="-4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-</a:t>
            </a:r>
            <a:r>
              <a:rPr sz="15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5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-</a:t>
            </a:r>
            <a:r>
              <a:rPr sz="1500" spc="-2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end</a:t>
            </a:r>
            <a:r>
              <a:rPr sz="1500" spc="1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pipeline</a:t>
            </a:r>
            <a:r>
              <a:rPr sz="1550" spc="-3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:</a:t>
            </a:r>
            <a:r>
              <a:rPr sz="15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Symptoms</a:t>
            </a:r>
            <a:r>
              <a:rPr sz="15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1350" spc="-50" dirty="0">
                <a:solidFill>
                  <a:srgbClr val="4ADE80"/>
                </a:solidFill>
                <a:latin typeface="Microsoft Sans Serif" panose="020B0604020202020204"/>
                <a:cs typeface="Microsoft Sans Serif" panose="020B0604020202020204"/>
              </a:rPr>
              <a:t>→</a:t>
            </a:r>
            <a:r>
              <a:rPr sz="1350" dirty="0">
                <a:solidFill>
                  <a:srgbClr val="4ADE80"/>
                </a:solidFill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1500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Disease</a:t>
            </a:r>
            <a:r>
              <a:rPr sz="15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1350" spc="-50" dirty="0">
                <a:solidFill>
                  <a:srgbClr val="4ADE80"/>
                </a:solidFill>
                <a:latin typeface="Microsoft Sans Serif" panose="020B0604020202020204"/>
                <a:cs typeface="Microsoft Sans Serif" panose="020B0604020202020204"/>
              </a:rPr>
              <a:t>→</a:t>
            </a:r>
            <a:r>
              <a:rPr sz="1350" dirty="0">
                <a:solidFill>
                  <a:srgbClr val="4ADE80"/>
                </a:solidFill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1500" spc="-5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Right</a:t>
            </a:r>
            <a:r>
              <a:rPr sz="1500" spc="-1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Doctor</a:t>
            </a:r>
            <a:r>
              <a:rPr sz="15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1350" spc="-50" dirty="0">
                <a:solidFill>
                  <a:srgbClr val="4ADE80"/>
                </a:solidFill>
                <a:latin typeface="Microsoft Sans Serif" panose="020B0604020202020204"/>
                <a:cs typeface="Microsoft Sans Serif" panose="020B0604020202020204"/>
              </a:rPr>
              <a:t>→</a:t>
            </a:r>
            <a:r>
              <a:rPr sz="1350" dirty="0">
                <a:solidFill>
                  <a:srgbClr val="4ADE80"/>
                </a:solidFill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1500" spc="-3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Nearest</a:t>
            </a:r>
            <a:r>
              <a:rPr sz="1500" spc="-6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Clinic</a:t>
            </a:r>
            <a:endParaRPr sz="1500"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6_fin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7_fin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ap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6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road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The</a:t>
            </a:r>
            <a:r>
              <a:rPr spc="-430" dirty="0"/>
              <a:t> </a:t>
            </a:r>
            <a:r>
              <a:rPr spc="-145" dirty="0"/>
              <a:t>Impact</a:t>
            </a:r>
            <a:r>
              <a:rPr spc="-430" dirty="0"/>
              <a:t> </a:t>
            </a:r>
            <a:r>
              <a:rPr spc="-175" dirty="0"/>
              <a:t>Aarogya</a:t>
            </a:r>
            <a:r>
              <a:rPr spc="-430" dirty="0"/>
              <a:t> </a:t>
            </a:r>
            <a:r>
              <a:rPr spc="-125" dirty="0"/>
              <a:t>AI</a:t>
            </a:r>
            <a:r>
              <a:rPr spc="-430" dirty="0"/>
              <a:t> </a:t>
            </a:r>
            <a:r>
              <a:rPr spc="-200" dirty="0"/>
              <a:t>Can</a:t>
            </a:r>
            <a:r>
              <a:rPr spc="-430" dirty="0"/>
              <a:t> </a:t>
            </a:r>
            <a:r>
              <a:rPr spc="-95" dirty="0"/>
              <a:t>Create</a:t>
            </a:r>
            <a:endParaRPr spc="-95" dirty="0"/>
          </a:p>
        </p:txBody>
      </p:sp>
      <p:sp>
        <p:nvSpPr>
          <p:cNvPr id="4" name="object 4"/>
          <p:cNvSpPr txBox="1"/>
          <p:nvPr/>
        </p:nvSpPr>
        <p:spPr>
          <a:xfrm>
            <a:off x="1965225" y="4848821"/>
            <a:ext cx="8261984" cy="6953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125345" marR="5080" indent="-2113280">
              <a:lnSpc>
                <a:spcPts val="2700"/>
              </a:lnSpc>
              <a:spcBef>
                <a:spcPts val="75"/>
              </a:spcBef>
            </a:pPr>
            <a:r>
              <a:rPr sz="2150" i="1" spc="-114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"</a:t>
            </a:r>
            <a:r>
              <a:rPr sz="2050" i="1" spc="-114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050" i="1" spc="-4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15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50" i="1" spc="-3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9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symptom</a:t>
            </a:r>
            <a:r>
              <a:rPr sz="2050" i="1" spc="-4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7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checker</a:t>
            </a:r>
            <a:r>
              <a:rPr sz="2050" i="1" spc="-3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5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050" i="1" spc="-4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15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50" i="1" spc="-3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9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national</a:t>
            </a:r>
            <a:r>
              <a:rPr sz="2050" i="1" spc="-4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8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health</a:t>
            </a:r>
            <a:r>
              <a:rPr sz="2050" i="1" spc="-3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6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intelligence</a:t>
            </a:r>
            <a:r>
              <a:rPr sz="2050" i="1" spc="-4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9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layer</a:t>
            </a:r>
            <a:r>
              <a:rPr sz="2050" i="1" spc="-3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i="1" spc="-37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—</a:t>
            </a:r>
            <a:r>
              <a:rPr sz="2150" i="1" spc="-7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11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Aarogya</a:t>
            </a:r>
            <a:r>
              <a:rPr sz="2050" i="1" spc="-4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3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AI </a:t>
            </a:r>
            <a:r>
              <a:rPr sz="2050" i="1" spc="-9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scales</a:t>
            </a:r>
            <a:r>
              <a:rPr sz="2050" i="1" spc="-6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5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050" i="1" spc="-9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7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village</a:t>
            </a:r>
            <a:r>
              <a:rPr sz="2050" i="1" spc="-7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5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050" i="1" spc="-8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4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district</a:t>
            </a:r>
            <a:r>
              <a:rPr sz="2050" i="1" spc="-2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5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050" i="1" spc="-75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i="1" spc="-1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2150" i="1" spc="-10" dirty="0">
                <a:solidFill>
                  <a:srgbClr val="DFF1F1"/>
                </a:solidFill>
                <a:latin typeface="Arial" panose="020B0604020202020204"/>
                <a:cs typeface="Arial" panose="020B0604020202020204"/>
              </a:rPr>
              <a:t>."</a:t>
            </a:r>
            <a:endParaRPr sz="21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1999" y="1828799"/>
            <a:ext cx="3362325" cy="1790700"/>
            <a:chOff x="761999" y="1828799"/>
            <a:chExt cx="3362325" cy="1790700"/>
          </a:xfrm>
        </p:grpSpPr>
        <p:sp>
          <p:nvSpPr>
            <p:cNvPr id="6" name="object 6"/>
            <p:cNvSpPr/>
            <p:nvPr/>
          </p:nvSpPr>
          <p:spPr>
            <a:xfrm>
              <a:off x="761999" y="1828799"/>
              <a:ext cx="3362325" cy="1790700"/>
            </a:xfrm>
            <a:custGeom>
              <a:avLst/>
              <a:gdLst/>
              <a:ahLst/>
              <a:cxnLst/>
              <a:rect l="l" t="t" r="r" b="b"/>
              <a:pathLst>
                <a:path w="3362325" h="1790700">
                  <a:moveTo>
                    <a:pt x="3248024" y="1790699"/>
                  </a:moveTo>
                  <a:lnTo>
                    <a:pt x="114299" y="1790699"/>
                  </a:lnTo>
                  <a:lnTo>
                    <a:pt x="103040" y="1790155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48024" y="0"/>
                  </a:lnTo>
                  <a:lnTo>
                    <a:pt x="3291764" y="8700"/>
                  </a:lnTo>
                  <a:lnTo>
                    <a:pt x="3328846" y="33477"/>
                  </a:lnTo>
                  <a:lnTo>
                    <a:pt x="3353623" y="70559"/>
                  </a:lnTo>
                  <a:lnTo>
                    <a:pt x="3362324" y="114299"/>
                  </a:lnTo>
                  <a:lnTo>
                    <a:pt x="3362324" y="1676399"/>
                  </a:lnTo>
                  <a:lnTo>
                    <a:pt x="3353623" y="1720140"/>
                  </a:lnTo>
                  <a:lnTo>
                    <a:pt x="3328846" y="1757222"/>
                  </a:lnTo>
                  <a:lnTo>
                    <a:pt x="3291764" y="1781999"/>
                  </a:lnTo>
                  <a:lnTo>
                    <a:pt x="3248024" y="1790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61999" y="1828799"/>
              <a:ext cx="3362325" cy="1790700"/>
            </a:xfrm>
            <a:custGeom>
              <a:avLst/>
              <a:gdLst/>
              <a:ahLst/>
              <a:cxnLst/>
              <a:rect l="l" t="t" r="r" b="b"/>
              <a:pathLst>
                <a:path w="3362325" h="1790700">
                  <a:moveTo>
                    <a:pt x="3248024" y="1790699"/>
                  </a:moveTo>
                  <a:lnTo>
                    <a:pt x="114299" y="1790699"/>
                  </a:lnTo>
                  <a:lnTo>
                    <a:pt x="103040" y="1790156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48024" y="0"/>
                  </a:lnTo>
                  <a:lnTo>
                    <a:pt x="3291765" y="8700"/>
                  </a:lnTo>
                  <a:lnTo>
                    <a:pt x="3293511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683279"/>
                  </a:lnTo>
                  <a:lnTo>
                    <a:pt x="20133" y="1722850"/>
                  </a:lnTo>
                  <a:lnTo>
                    <a:pt x="45077" y="1755351"/>
                  </a:lnTo>
                  <a:lnTo>
                    <a:pt x="80560" y="1775831"/>
                  </a:lnTo>
                  <a:lnTo>
                    <a:pt x="107420" y="1781174"/>
                  </a:lnTo>
                  <a:lnTo>
                    <a:pt x="3293512" y="1781174"/>
                  </a:lnTo>
                  <a:lnTo>
                    <a:pt x="3291765" y="1781999"/>
                  </a:lnTo>
                  <a:lnTo>
                    <a:pt x="3281154" y="1785805"/>
                  </a:lnTo>
                  <a:lnTo>
                    <a:pt x="3270327" y="1788524"/>
                  </a:lnTo>
                  <a:lnTo>
                    <a:pt x="3259284" y="1790156"/>
                  </a:lnTo>
                  <a:lnTo>
                    <a:pt x="3248024" y="1790699"/>
                  </a:lnTo>
                  <a:close/>
                </a:path>
                <a:path w="3362325" h="1790700">
                  <a:moveTo>
                    <a:pt x="3293512" y="1781174"/>
                  </a:moveTo>
                  <a:lnTo>
                    <a:pt x="3254903" y="1781174"/>
                  </a:lnTo>
                  <a:lnTo>
                    <a:pt x="3261717" y="1780503"/>
                  </a:lnTo>
                  <a:lnTo>
                    <a:pt x="3275211" y="1777819"/>
                  </a:lnTo>
                  <a:lnTo>
                    <a:pt x="3311954" y="1759694"/>
                  </a:lnTo>
                  <a:lnTo>
                    <a:pt x="3338963" y="1728889"/>
                  </a:lnTo>
                  <a:lnTo>
                    <a:pt x="3352128" y="1690092"/>
                  </a:lnTo>
                  <a:lnTo>
                    <a:pt x="3352799" y="1683279"/>
                  </a:lnTo>
                  <a:lnTo>
                    <a:pt x="3352799" y="107420"/>
                  </a:lnTo>
                  <a:lnTo>
                    <a:pt x="3342191" y="67848"/>
                  </a:lnTo>
                  <a:lnTo>
                    <a:pt x="3317246" y="35348"/>
                  </a:lnTo>
                  <a:lnTo>
                    <a:pt x="3281763" y="14867"/>
                  </a:lnTo>
                  <a:lnTo>
                    <a:pt x="3254903" y="9524"/>
                  </a:lnTo>
                  <a:lnTo>
                    <a:pt x="3293511" y="9524"/>
                  </a:lnTo>
                  <a:lnTo>
                    <a:pt x="3328846" y="33477"/>
                  </a:lnTo>
                  <a:lnTo>
                    <a:pt x="3353623" y="70559"/>
                  </a:lnTo>
                  <a:lnTo>
                    <a:pt x="3362324" y="114299"/>
                  </a:lnTo>
                  <a:lnTo>
                    <a:pt x="3362324" y="1676399"/>
                  </a:lnTo>
                  <a:lnTo>
                    <a:pt x="3361780" y="1687659"/>
                  </a:lnTo>
                  <a:lnTo>
                    <a:pt x="3348812" y="1730334"/>
                  </a:lnTo>
                  <a:lnTo>
                    <a:pt x="3320500" y="1764799"/>
                  </a:lnTo>
                  <a:lnTo>
                    <a:pt x="3301959" y="1777187"/>
                  </a:lnTo>
                  <a:lnTo>
                    <a:pt x="3293512" y="178117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421110" y="2111774"/>
            <a:ext cx="2037714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10" dirty="0">
                <a:solidFill>
                  <a:srgbClr val="4ADE80"/>
                </a:solidFill>
                <a:latin typeface="Arial" panose="020B0604020202020204"/>
                <a:cs typeface="Arial" panose="020B0604020202020204"/>
              </a:rPr>
              <a:t>IMMEDIATE</a:t>
            </a:r>
            <a:r>
              <a:rPr sz="1650" b="1" spc="-55" dirty="0">
                <a:solidFill>
                  <a:srgbClr val="4ADE8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b="1" spc="-10" dirty="0">
                <a:solidFill>
                  <a:srgbClr val="4ADE80"/>
                </a:solidFill>
                <a:latin typeface="Arial" panose="020B0604020202020204"/>
                <a:cs typeface="Arial" panose="020B0604020202020204"/>
              </a:rPr>
              <a:t>IMPACT</a:t>
            </a:r>
            <a:endParaRPr sz="1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1094" y="2511530"/>
            <a:ext cx="2767330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3000"/>
              </a:lnSpc>
              <a:spcBef>
                <a:spcPts val="100"/>
              </a:spcBef>
            </a:pPr>
            <a:r>
              <a:rPr sz="1500" spc="-6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Reduce</a:t>
            </a:r>
            <a:r>
              <a:rPr sz="1500" spc="-3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unnecessary </a:t>
            </a:r>
            <a:r>
              <a:rPr sz="15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doctor</a:t>
            </a:r>
            <a:r>
              <a:rPr sz="1500" spc="-2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visits </a:t>
            </a:r>
            <a:r>
              <a:rPr sz="15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by</a:t>
            </a:r>
            <a:r>
              <a:rPr sz="1500" spc="2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4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40%</a:t>
            </a:r>
            <a:r>
              <a:rPr sz="1450" spc="4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1500" spc="3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non</a:t>
            </a:r>
            <a:r>
              <a:rPr sz="14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-</a:t>
            </a:r>
            <a:r>
              <a:rPr sz="1500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serious conditions</a:t>
            </a:r>
            <a:endParaRPr sz="15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410074" y="1828799"/>
            <a:ext cx="3371850" cy="1790700"/>
            <a:chOff x="4410074" y="1828799"/>
            <a:chExt cx="3371850" cy="1790700"/>
          </a:xfrm>
        </p:grpSpPr>
        <p:sp>
          <p:nvSpPr>
            <p:cNvPr id="11" name="object 11"/>
            <p:cNvSpPr/>
            <p:nvPr/>
          </p:nvSpPr>
          <p:spPr>
            <a:xfrm>
              <a:off x="4410074" y="1828799"/>
              <a:ext cx="3371850" cy="1790700"/>
            </a:xfrm>
            <a:custGeom>
              <a:avLst/>
              <a:gdLst/>
              <a:ahLst/>
              <a:cxnLst/>
              <a:rect l="l" t="t" r="r" b="b"/>
              <a:pathLst>
                <a:path w="3371850" h="1790700">
                  <a:moveTo>
                    <a:pt x="3257549" y="1790699"/>
                  </a:moveTo>
                  <a:lnTo>
                    <a:pt x="114299" y="1790699"/>
                  </a:lnTo>
                  <a:lnTo>
                    <a:pt x="103040" y="1790155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57549" y="0"/>
                  </a:lnTo>
                  <a:lnTo>
                    <a:pt x="3301289" y="8700"/>
                  </a:lnTo>
                  <a:lnTo>
                    <a:pt x="3338371" y="33477"/>
                  </a:lnTo>
                  <a:lnTo>
                    <a:pt x="3363148" y="70559"/>
                  </a:lnTo>
                  <a:lnTo>
                    <a:pt x="3371849" y="114299"/>
                  </a:lnTo>
                  <a:lnTo>
                    <a:pt x="3371849" y="1676399"/>
                  </a:lnTo>
                  <a:lnTo>
                    <a:pt x="3363148" y="1720140"/>
                  </a:lnTo>
                  <a:lnTo>
                    <a:pt x="3338371" y="1757222"/>
                  </a:lnTo>
                  <a:lnTo>
                    <a:pt x="3301289" y="1781999"/>
                  </a:lnTo>
                  <a:lnTo>
                    <a:pt x="3257549" y="1790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410074" y="1828799"/>
              <a:ext cx="3371850" cy="1790700"/>
            </a:xfrm>
            <a:custGeom>
              <a:avLst/>
              <a:gdLst/>
              <a:ahLst/>
              <a:cxnLst/>
              <a:rect l="l" t="t" r="r" b="b"/>
              <a:pathLst>
                <a:path w="3371850" h="1790700">
                  <a:moveTo>
                    <a:pt x="3257549" y="1790699"/>
                  </a:moveTo>
                  <a:lnTo>
                    <a:pt x="114299" y="1790699"/>
                  </a:lnTo>
                  <a:lnTo>
                    <a:pt x="103040" y="1790156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57549" y="0"/>
                  </a:lnTo>
                  <a:lnTo>
                    <a:pt x="3301290" y="8700"/>
                  </a:lnTo>
                  <a:lnTo>
                    <a:pt x="3303036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09" y="23360"/>
                  </a:lnTo>
                  <a:lnTo>
                    <a:pt x="31004" y="50369"/>
                  </a:lnTo>
                  <a:lnTo>
                    <a:pt x="12879" y="87111"/>
                  </a:lnTo>
                  <a:lnTo>
                    <a:pt x="9524" y="107420"/>
                  </a:lnTo>
                  <a:lnTo>
                    <a:pt x="9524" y="1683279"/>
                  </a:lnTo>
                  <a:lnTo>
                    <a:pt x="20132" y="1722850"/>
                  </a:lnTo>
                  <a:lnTo>
                    <a:pt x="45076" y="1755351"/>
                  </a:lnTo>
                  <a:lnTo>
                    <a:pt x="80559" y="1775831"/>
                  </a:lnTo>
                  <a:lnTo>
                    <a:pt x="107420" y="1781174"/>
                  </a:lnTo>
                  <a:lnTo>
                    <a:pt x="3303037" y="1781174"/>
                  </a:lnTo>
                  <a:lnTo>
                    <a:pt x="3301290" y="1781999"/>
                  </a:lnTo>
                  <a:lnTo>
                    <a:pt x="3290679" y="1785805"/>
                  </a:lnTo>
                  <a:lnTo>
                    <a:pt x="3279852" y="1788524"/>
                  </a:lnTo>
                  <a:lnTo>
                    <a:pt x="3268809" y="1790156"/>
                  </a:lnTo>
                  <a:lnTo>
                    <a:pt x="3257549" y="1790699"/>
                  </a:lnTo>
                  <a:close/>
                </a:path>
                <a:path w="3371850" h="1790700">
                  <a:moveTo>
                    <a:pt x="3303037" y="1781174"/>
                  </a:moveTo>
                  <a:lnTo>
                    <a:pt x="3264428" y="1781174"/>
                  </a:lnTo>
                  <a:lnTo>
                    <a:pt x="3271242" y="1780503"/>
                  </a:lnTo>
                  <a:lnTo>
                    <a:pt x="3284736" y="1777819"/>
                  </a:lnTo>
                  <a:lnTo>
                    <a:pt x="3321479" y="1759694"/>
                  </a:lnTo>
                  <a:lnTo>
                    <a:pt x="3348488" y="1728889"/>
                  </a:lnTo>
                  <a:lnTo>
                    <a:pt x="3361653" y="1690092"/>
                  </a:lnTo>
                  <a:lnTo>
                    <a:pt x="3362324" y="1683279"/>
                  </a:lnTo>
                  <a:lnTo>
                    <a:pt x="3362324" y="107420"/>
                  </a:lnTo>
                  <a:lnTo>
                    <a:pt x="3351715" y="67848"/>
                  </a:lnTo>
                  <a:lnTo>
                    <a:pt x="3326771" y="35348"/>
                  </a:lnTo>
                  <a:lnTo>
                    <a:pt x="3291288" y="14867"/>
                  </a:lnTo>
                  <a:lnTo>
                    <a:pt x="3264428" y="9524"/>
                  </a:lnTo>
                  <a:lnTo>
                    <a:pt x="3303036" y="9524"/>
                  </a:lnTo>
                  <a:lnTo>
                    <a:pt x="3338372" y="33477"/>
                  </a:lnTo>
                  <a:lnTo>
                    <a:pt x="3363149" y="70559"/>
                  </a:lnTo>
                  <a:lnTo>
                    <a:pt x="3371849" y="114299"/>
                  </a:lnTo>
                  <a:lnTo>
                    <a:pt x="3371849" y="1676399"/>
                  </a:lnTo>
                  <a:lnTo>
                    <a:pt x="3371305" y="1687659"/>
                  </a:lnTo>
                  <a:lnTo>
                    <a:pt x="3358337" y="1730334"/>
                  </a:lnTo>
                  <a:lnTo>
                    <a:pt x="3330025" y="1764799"/>
                  </a:lnTo>
                  <a:lnTo>
                    <a:pt x="3311484" y="1777187"/>
                  </a:lnTo>
                  <a:lnTo>
                    <a:pt x="3303037" y="178117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989562" y="2111774"/>
            <a:ext cx="220345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dirty="0">
                <a:solidFill>
                  <a:srgbClr val="4ADE80"/>
                </a:solidFill>
                <a:latin typeface="Arial" panose="020B0604020202020204"/>
                <a:cs typeface="Arial" panose="020B0604020202020204"/>
              </a:rPr>
              <a:t>COMMUNITY</a:t>
            </a:r>
            <a:r>
              <a:rPr sz="1650" b="1" spc="229" dirty="0">
                <a:solidFill>
                  <a:srgbClr val="4ADE8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b="1" spc="-10" dirty="0">
                <a:solidFill>
                  <a:srgbClr val="4ADE80"/>
                </a:solidFill>
                <a:latin typeface="Arial" panose="020B0604020202020204"/>
                <a:cs typeface="Arial" panose="020B0604020202020204"/>
              </a:rPr>
              <a:t>IMPACT</a:t>
            </a:r>
            <a:endParaRPr sz="1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16462" y="2511530"/>
            <a:ext cx="2759075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3000"/>
              </a:lnSpc>
              <a:spcBef>
                <a:spcPts val="100"/>
              </a:spcBef>
            </a:pPr>
            <a:r>
              <a:rPr sz="1500" spc="-4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Early </a:t>
            </a:r>
            <a:r>
              <a:rPr sz="1500" spc="-2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outbreak</a:t>
            </a:r>
            <a:r>
              <a:rPr sz="1500" spc="-4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detection</a:t>
            </a:r>
            <a:r>
              <a:rPr sz="1500" spc="-4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for</a:t>
            </a:r>
            <a:r>
              <a:rPr sz="1500" spc="-4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450" spc="-2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500+ </a:t>
            </a:r>
            <a:r>
              <a:rPr sz="1500" spc="-2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villages</a:t>
            </a:r>
            <a:r>
              <a:rPr sz="1500" spc="-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through</a:t>
            </a:r>
            <a:r>
              <a:rPr sz="1500" spc="-4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anonymous </a:t>
            </a:r>
            <a:r>
              <a:rPr sz="1500" spc="-2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symptom</a:t>
            </a:r>
            <a:r>
              <a:rPr sz="1500" spc="-5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aggregation</a:t>
            </a:r>
            <a:endParaRPr sz="15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67674" y="1828799"/>
            <a:ext cx="3362325" cy="1790700"/>
            <a:chOff x="8067674" y="1828799"/>
            <a:chExt cx="3362325" cy="1790700"/>
          </a:xfrm>
        </p:grpSpPr>
        <p:sp>
          <p:nvSpPr>
            <p:cNvPr id="16" name="object 16"/>
            <p:cNvSpPr/>
            <p:nvPr/>
          </p:nvSpPr>
          <p:spPr>
            <a:xfrm>
              <a:off x="8067674" y="1828799"/>
              <a:ext cx="3362325" cy="1790700"/>
            </a:xfrm>
            <a:custGeom>
              <a:avLst/>
              <a:gdLst/>
              <a:ahLst/>
              <a:cxnLst/>
              <a:rect l="l" t="t" r="r" b="b"/>
              <a:pathLst>
                <a:path w="3362325" h="1790700">
                  <a:moveTo>
                    <a:pt x="3248024" y="1790699"/>
                  </a:moveTo>
                  <a:lnTo>
                    <a:pt x="114299" y="1790699"/>
                  </a:lnTo>
                  <a:lnTo>
                    <a:pt x="103040" y="1790155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48024" y="0"/>
                  </a:lnTo>
                  <a:lnTo>
                    <a:pt x="3291764" y="8700"/>
                  </a:lnTo>
                  <a:lnTo>
                    <a:pt x="3328846" y="33477"/>
                  </a:lnTo>
                  <a:lnTo>
                    <a:pt x="3353623" y="70559"/>
                  </a:lnTo>
                  <a:lnTo>
                    <a:pt x="3362324" y="114299"/>
                  </a:lnTo>
                  <a:lnTo>
                    <a:pt x="3362324" y="1676399"/>
                  </a:lnTo>
                  <a:lnTo>
                    <a:pt x="3353623" y="1720140"/>
                  </a:lnTo>
                  <a:lnTo>
                    <a:pt x="3328846" y="1757222"/>
                  </a:lnTo>
                  <a:lnTo>
                    <a:pt x="3291764" y="1781999"/>
                  </a:lnTo>
                  <a:lnTo>
                    <a:pt x="3248024" y="1790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067674" y="1828799"/>
              <a:ext cx="3362325" cy="1790700"/>
            </a:xfrm>
            <a:custGeom>
              <a:avLst/>
              <a:gdLst/>
              <a:ahLst/>
              <a:cxnLst/>
              <a:rect l="l" t="t" r="r" b="b"/>
              <a:pathLst>
                <a:path w="3362325" h="1790700">
                  <a:moveTo>
                    <a:pt x="3248024" y="1790699"/>
                  </a:moveTo>
                  <a:lnTo>
                    <a:pt x="114299" y="1790699"/>
                  </a:lnTo>
                  <a:lnTo>
                    <a:pt x="103040" y="1790156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48024" y="0"/>
                  </a:lnTo>
                  <a:lnTo>
                    <a:pt x="3291765" y="8700"/>
                  </a:lnTo>
                  <a:lnTo>
                    <a:pt x="3293511" y="9524"/>
                  </a:lnTo>
                  <a:lnTo>
                    <a:pt x="107419" y="9524"/>
                  </a:lnTo>
                  <a:lnTo>
                    <a:pt x="100606" y="10195"/>
                  </a:lnTo>
                  <a:lnTo>
                    <a:pt x="61808" y="23360"/>
                  </a:lnTo>
                  <a:lnTo>
                    <a:pt x="31003" y="50369"/>
                  </a:lnTo>
                  <a:lnTo>
                    <a:pt x="12878" y="87111"/>
                  </a:lnTo>
                  <a:lnTo>
                    <a:pt x="9524" y="107420"/>
                  </a:lnTo>
                  <a:lnTo>
                    <a:pt x="9524" y="1683279"/>
                  </a:lnTo>
                  <a:lnTo>
                    <a:pt x="20131" y="1722850"/>
                  </a:lnTo>
                  <a:lnTo>
                    <a:pt x="45076" y="1755351"/>
                  </a:lnTo>
                  <a:lnTo>
                    <a:pt x="80558" y="1775831"/>
                  </a:lnTo>
                  <a:lnTo>
                    <a:pt x="107419" y="1781174"/>
                  </a:lnTo>
                  <a:lnTo>
                    <a:pt x="3293512" y="1781174"/>
                  </a:lnTo>
                  <a:lnTo>
                    <a:pt x="3291765" y="1781999"/>
                  </a:lnTo>
                  <a:lnTo>
                    <a:pt x="3281154" y="1785805"/>
                  </a:lnTo>
                  <a:lnTo>
                    <a:pt x="3270327" y="1788524"/>
                  </a:lnTo>
                  <a:lnTo>
                    <a:pt x="3259284" y="1790156"/>
                  </a:lnTo>
                  <a:lnTo>
                    <a:pt x="3248024" y="1790699"/>
                  </a:lnTo>
                  <a:close/>
                </a:path>
                <a:path w="3362325" h="1790700">
                  <a:moveTo>
                    <a:pt x="3293512" y="1781174"/>
                  </a:moveTo>
                  <a:lnTo>
                    <a:pt x="3254904" y="1781174"/>
                  </a:lnTo>
                  <a:lnTo>
                    <a:pt x="3261716" y="1780503"/>
                  </a:lnTo>
                  <a:lnTo>
                    <a:pt x="3275209" y="1777819"/>
                  </a:lnTo>
                  <a:lnTo>
                    <a:pt x="3311953" y="1759694"/>
                  </a:lnTo>
                  <a:lnTo>
                    <a:pt x="3338961" y="1728889"/>
                  </a:lnTo>
                  <a:lnTo>
                    <a:pt x="3352127" y="1690092"/>
                  </a:lnTo>
                  <a:lnTo>
                    <a:pt x="3352798" y="1683279"/>
                  </a:lnTo>
                  <a:lnTo>
                    <a:pt x="3352798" y="107420"/>
                  </a:lnTo>
                  <a:lnTo>
                    <a:pt x="3342189" y="67848"/>
                  </a:lnTo>
                  <a:lnTo>
                    <a:pt x="3317244" y="35348"/>
                  </a:lnTo>
                  <a:lnTo>
                    <a:pt x="3281761" y="14867"/>
                  </a:lnTo>
                  <a:lnTo>
                    <a:pt x="3254904" y="9524"/>
                  </a:lnTo>
                  <a:lnTo>
                    <a:pt x="3293511" y="9524"/>
                  </a:lnTo>
                  <a:lnTo>
                    <a:pt x="3328847" y="33477"/>
                  </a:lnTo>
                  <a:lnTo>
                    <a:pt x="3353623" y="70559"/>
                  </a:lnTo>
                  <a:lnTo>
                    <a:pt x="3362324" y="114299"/>
                  </a:lnTo>
                  <a:lnTo>
                    <a:pt x="3362324" y="1676399"/>
                  </a:lnTo>
                  <a:lnTo>
                    <a:pt x="3361780" y="1687659"/>
                  </a:lnTo>
                  <a:lnTo>
                    <a:pt x="3348812" y="1730334"/>
                  </a:lnTo>
                  <a:lnTo>
                    <a:pt x="3320500" y="1764799"/>
                  </a:lnTo>
                  <a:lnTo>
                    <a:pt x="3301959" y="1777187"/>
                  </a:lnTo>
                  <a:lnTo>
                    <a:pt x="3293512" y="178117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736310" y="2111774"/>
            <a:ext cx="2012314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10" dirty="0">
                <a:solidFill>
                  <a:srgbClr val="4ADE80"/>
                </a:solidFill>
                <a:latin typeface="Arial" panose="020B0604020202020204"/>
                <a:cs typeface="Arial" panose="020B0604020202020204"/>
              </a:rPr>
              <a:t>ECONOMIC</a:t>
            </a:r>
            <a:r>
              <a:rPr sz="1650" b="1" spc="-80" dirty="0">
                <a:solidFill>
                  <a:srgbClr val="4ADE8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b="1" spc="-10" dirty="0">
                <a:solidFill>
                  <a:srgbClr val="4ADE80"/>
                </a:solidFill>
                <a:latin typeface="Arial" panose="020B0604020202020204"/>
                <a:cs typeface="Arial" panose="020B0604020202020204"/>
              </a:rPr>
              <a:t>IMPACT</a:t>
            </a:r>
            <a:endParaRPr sz="1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49208" y="2512972"/>
            <a:ext cx="2795905" cy="79565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1500" spc="-8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Save</a:t>
            </a:r>
            <a:r>
              <a:rPr sz="1500" spc="-1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low</a:t>
            </a:r>
            <a:r>
              <a:rPr sz="14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-</a:t>
            </a:r>
            <a:r>
              <a:rPr sz="1500" spc="-2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income</a:t>
            </a:r>
            <a:r>
              <a:rPr sz="1500" spc="-1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families</a:t>
            </a:r>
            <a:r>
              <a:rPr sz="1500" spc="-1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₹</a:t>
            </a:r>
            <a:r>
              <a:rPr sz="1450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2,000–</a:t>
            </a:r>
            <a:endParaRPr sz="1450">
              <a:latin typeface="Microsoft Sans Serif" panose="020B0604020202020204"/>
              <a:cs typeface="Microsoft Sans Serif" panose="020B0604020202020204"/>
            </a:endParaRPr>
          </a:p>
          <a:p>
            <a:pPr marL="114300" marR="106680" algn="ctr">
              <a:lnSpc>
                <a:spcPts val="2030"/>
              </a:lnSpc>
              <a:spcBef>
                <a:spcPts val="80"/>
              </a:spcBef>
            </a:pPr>
            <a:r>
              <a:rPr sz="1550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₹</a:t>
            </a:r>
            <a:r>
              <a:rPr sz="1450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5,000</a:t>
            </a:r>
            <a:r>
              <a:rPr sz="1450" spc="-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annually</a:t>
            </a:r>
            <a:r>
              <a:rPr sz="1500" spc="-6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in</a:t>
            </a:r>
            <a:r>
              <a:rPr sz="1500" spc="-6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unnecessary </a:t>
            </a:r>
            <a:r>
              <a:rPr sz="1500" spc="-2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consultation</a:t>
            </a:r>
            <a:r>
              <a:rPr sz="1500" spc="1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fees</a:t>
            </a:r>
            <a:endParaRPr sz="15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1999" y="5857874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10667999" y="9524"/>
                </a:moveTo>
                <a:lnTo>
                  <a:pt x="0" y="9524"/>
                </a:lnTo>
                <a:lnTo>
                  <a:pt x="0" y="0"/>
                </a:lnTo>
                <a:lnTo>
                  <a:pt x="10667999" y="0"/>
                </a:lnTo>
                <a:lnTo>
                  <a:pt x="10667999" y="9524"/>
                </a:lnTo>
                <a:close/>
              </a:path>
            </a:pathLst>
          </a:custGeom>
          <a:solidFill>
            <a:srgbClr val="FFFFFF">
              <a:alpha val="1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869058" y="6040437"/>
            <a:ext cx="644461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spc="-10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BUILT</a:t>
            </a:r>
            <a:r>
              <a:rPr sz="1300" b="1" spc="-15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b="1" spc="-25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300" b="1" spc="-10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b="1" spc="-25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BHARAT</a:t>
            </a:r>
            <a:r>
              <a:rPr sz="1350" b="1" spc="-25" dirty="0">
                <a:solidFill>
                  <a:srgbClr val="81C783"/>
                </a:solidFill>
                <a:latin typeface="Sitka Text"/>
                <a:cs typeface="Sitka Text"/>
              </a:rPr>
              <a:t>.</a:t>
            </a:r>
            <a:r>
              <a:rPr sz="1350" b="1" spc="-55" dirty="0">
                <a:solidFill>
                  <a:srgbClr val="81C783"/>
                </a:solidFill>
                <a:latin typeface="Sitka Text"/>
                <a:cs typeface="Sitka Text"/>
              </a:rPr>
              <a:t> </a:t>
            </a:r>
            <a:r>
              <a:rPr sz="1300" b="1" spc="-30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POWERED</a:t>
            </a:r>
            <a:r>
              <a:rPr sz="1300" b="1" spc="-10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300" b="1" spc="-10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350" b="1" dirty="0">
                <a:solidFill>
                  <a:srgbClr val="81C783"/>
                </a:solidFill>
                <a:latin typeface="Sitka Text"/>
                <a:cs typeface="Sitka Text"/>
              </a:rPr>
              <a:t>.</a:t>
            </a:r>
            <a:r>
              <a:rPr sz="1350" b="1" spc="-55" dirty="0">
                <a:solidFill>
                  <a:srgbClr val="81C783"/>
                </a:solidFill>
                <a:latin typeface="Sitka Text"/>
                <a:cs typeface="Sitka Text"/>
              </a:rPr>
              <a:t> </a:t>
            </a:r>
            <a:r>
              <a:rPr sz="1300" b="1" spc="-10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SUPPORTED </a:t>
            </a:r>
            <a:r>
              <a:rPr sz="1300" b="1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300" b="1" spc="-10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RAPIDMINER</a:t>
            </a:r>
            <a:r>
              <a:rPr sz="1300" b="1" spc="-10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solidFill>
                  <a:srgbClr val="81C783"/>
                </a:solidFill>
                <a:latin typeface="Sitka Text"/>
                <a:cs typeface="Sitka Text"/>
              </a:rPr>
              <a:t>+</a:t>
            </a:r>
            <a:r>
              <a:rPr sz="1350" b="1" spc="-35" dirty="0">
                <a:solidFill>
                  <a:srgbClr val="81C783"/>
                </a:solidFill>
                <a:latin typeface="Sitka Text"/>
                <a:cs typeface="Sitka Text"/>
              </a:rPr>
              <a:t> </a:t>
            </a:r>
            <a:r>
              <a:rPr sz="1300" b="1" spc="-10" dirty="0">
                <a:solidFill>
                  <a:srgbClr val="81C783"/>
                </a:solidFill>
                <a:latin typeface="Arial" panose="020B0604020202020204"/>
                <a:cs typeface="Arial" panose="020B0604020202020204"/>
              </a:rPr>
              <a:t>MENDIX</a:t>
            </a:r>
            <a:r>
              <a:rPr sz="1350" b="1" spc="-10" dirty="0">
                <a:solidFill>
                  <a:srgbClr val="81C783"/>
                </a:solidFill>
                <a:latin typeface="Sitka Text"/>
                <a:cs typeface="Sitka Text"/>
              </a:rPr>
              <a:t>.</a:t>
            </a:r>
            <a:endParaRPr sz="1350">
              <a:latin typeface="Sitka Text"/>
              <a:cs typeface="Sitka Tex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2687</Words>
  <Application>WPS Presentation</Application>
  <PresentationFormat>Widescreen</PresentationFormat>
  <Paragraphs>126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SimSun</vt:lpstr>
      <vt:lpstr>Wingdings</vt:lpstr>
      <vt:lpstr>Arial</vt:lpstr>
      <vt:lpstr>Microsoft Sans Serif</vt:lpstr>
      <vt:lpstr>Roboto Lt</vt:lpstr>
      <vt:lpstr>Segoe Print</vt:lpstr>
      <vt:lpstr>Franklin Gothic Medium</vt:lpstr>
      <vt:lpstr>Javanese Text</vt:lpstr>
      <vt:lpstr>Roboto Bk</vt:lpstr>
      <vt:lpstr>Comic Sans MS</vt:lpstr>
      <vt:lpstr>Candara</vt:lpstr>
      <vt:lpstr>Arial Black</vt:lpstr>
      <vt:lpstr>Sitka Text</vt:lpstr>
      <vt:lpstr>Microsoft YaHei</vt:lpstr>
      <vt:lpstr>Arial Unicode MS</vt:lpstr>
      <vt:lpstr>Calibri</vt:lpstr>
      <vt:lpstr>Microsoft Sans Serif</vt:lpstr>
      <vt:lpstr>Office Theme</vt:lpstr>
      <vt:lpstr>When ₹500 feels like a risk, people gamble with their health.</vt:lpstr>
      <vt:lpstr>Why Existing Solutions Fall Short</vt:lpstr>
      <vt:lpstr>Aarogya AI</vt:lpstr>
      <vt:lpstr>How Aarogya AI Works</vt:lpstr>
      <vt:lpstr>Technology &amp; Data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Impact Aarogya AI Can Create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WPS_1711651526</cp:lastModifiedBy>
  <cp:revision>7</cp:revision>
  <dcterms:created xsi:type="dcterms:W3CDTF">2026-03-17T13:05:00Z</dcterms:created>
  <dcterms:modified xsi:type="dcterms:W3CDTF">2026-03-21T21:54:14Z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2026-03-17T22:00:00Z</vt:filetime>
  </property>
  <property fmtid="{D5CDD505-2E9C-101B-9397-08002B2CF9AE}" pid="3" name="LastSaved">
    <vt:filetime>2026-03-17T22:00:00Z</vt:filetime>
  </property>
  <property fmtid="{D5CDD505-2E9C-101B-9397-08002B2CF9AE}" pid="4" name="ICV">
    <vt:lpwstr>879B934EADD9412FB84A634DC683B1F3_12</vt:lpwstr>
  </property>
  <property fmtid="{D5CDD505-2E9C-101B-9397-08002B2CF9AE}" pid="5" name="KSOProductBuildVer">
    <vt:lpwstr>1033-12.1.0.25830</vt:lpwstr>
  </property>
</Properties>
</file>