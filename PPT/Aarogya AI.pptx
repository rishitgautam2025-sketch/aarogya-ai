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72" r:id="rId3"/>
    <p:sldId id="257" r:id="rId4"/>
    <p:sldId id="264" r:id="rId5"/>
    <p:sldId id="258" r:id="rId6"/>
    <p:sldId id="261" r:id="rId7"/>
    <p:sldId id="262" r:id="rId8"/>
    <p:sldId id="265" r:id="rId9"/>
    <p:sldId id="259" r:id="rId10"/>
    <p:sldId id="276" r:id="rId11"/>
    <p:sldId id="275" r:id="rId12"/>
    <p:sldId id="263" r:id="rId13"/>
    <p:sldId id="266" r:id="rId14"/>
    <p:sldId id="25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D4A093F4-FF4B-4F9E-865F-05B32BA4B212}">
          <p14:sldIdLst>
            <p14:sldId id="272"/>
          </p14:sldIdLst>
        </p14:section>
        <p14:section name="Section 2" id="{DA2F624F-9AEF-4D8B-A2C3-23CD0C69B483}">
          <p14:sldIdLst>
            <p14:sldId id="257"/>
            <p14:sldId id="264"/>
            <p14:sldId id="258"/>
          </p14:sldIdLst>
        </p14:section>
        <p14:section name="Section 3" id="{0325D7B5-9768-4089-8783-D7B3B1186DE1}">
          <p14:sldIdLst>
            <p14:sldId id="261"/>
            <p14:sldId id="262"/>
            <p14:sldId id="265"/>
          </p14:sldIdLst>
        </p14:section>
        <p14:section name="Section 4" id="{D449A786-841A-43BB-ACB5-258C802B74C3}">
          <p14:sldIdLst>
            <p14:sldId id="259"/>
            <p14:sldId id="276"/>
            <p14:sldId id="275"/>
            <p14:sldId id="263"/>
          </p14:sldIdLst>
        </p14:section>
        <p14:section name="Section 5" id="{6F8F77D8-8D40-4BB8-A190-3BF62707AC54}">
          <p14:sldIdLst>
            <p14:sldId id="266"/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FFC9"/>
    <a:srgbClr val="FFD600"/>
    <a:srgbClr val="00FF87"/>
    <a:srgbClr val="00E5FF"/>
    <a:srgbClr val="070C16"/>
    <a:srgbClr val="1E293B"/>
    <a:srgbClr val="00D1C1"/>
    <a:srgbClr val="0A0F14"/>
    <a:srgbClr val="0C1220"/>
    <a:srgbClr val="070B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91" autoAdjust="0"/>
    <p:restoredTop sz="94660"/>
  </p:normalViewPr>
  <p:slideViewPr>
    <p:cSldViewPr snapToGrid="0">
      <p:cViewPr varScale="1">
        <p:scale>
          <a:sx n="84" d="100"/>
          <a:sy n="84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Prediction Accuracy</c:v>
                </c:pt>
              </c:strCache>
            </c:strRef>
          </c:tx>
          <c:spPr>
            <a:ln w="28575" cap="rnd">
              <a:solidFill>
                <a:srgbClr val="00D1C1"/>
              </a:solidFill>
              <a:round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c:spPr>
          </c:marker>
          <c:cat>
            <c:strRef>
              <c:f>Sheet1!$A$2:$A$8</c:f>
              <c:strCache>
                <c:ptCount val="5"/>
                <c:pt idx="0">
                  <c:v>1,000 Cases</c:v>
                </c:pt>
                <c:pt idx="1">
                  <c:v>2,000 Cases</c:v>
                </c:pt>
                <c:pt idx="2">
                  <c:v>3,000 Cases</c:v>
                </c:pt>
                <c:pt idx="3">
                  <c:v>4,000 Cases</c:v>
                </c:pt>
                <c:pt idx="4">
                  <c:v>4,920 Cases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5"/>
                <c:pt idx="0">
                  <c:v>0.82399999999999995</c:v>
                </c:pt>
                <c:pt idx="1">
                  <c:v>0.89100000000000001</c:v>
                </c:pt>
                <c:pt idx="2">
                  <c:v>0.94599999999999995</c:v>
                </c:pt>
                <c:pt idx="3">
                  <c:v>0.97799999999999998</c:v>
                </c:pt>
                <c:pt idx="4">
                  <c:v>0.99299999999999999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FB-4C4D-851C-EBC29BDA6F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5822752"/>
        <c:axId val="1755823232"/>
      </c:lineChart>
      <c:catAx>
        <c:axId val="17558227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330" b="0" i="0" u="none" strike="noStrike" baseline="0" dirty="0">
                    <a:solidFill>
                      <a:schemeClr val="bg1"/>
                    </a:solidFill>
                  </a:rPr>
                  <a:t>Clinical Cases </a:t>
                </a:r>
                <a:r>
                  <a:rPr lang="en-IN" sz="1330" b="0" i="0" u="none" strike="noStrike" baseline="0" dirty="0" err="1">
                    <a:solidFill>
                      <a:schemeClr val="bg1"/>
                    </a:solidFill>
                  </a:rPr>
                  <a:t>Analyzed</a:t>
                </a:r>
                <a:endParaRPr lang="en-IN" dirty="0">
                  <a:solidFill>
                    <a:schemeClr val="bg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5823232"/>
        <c:crosses val="autoZero"/>
        <c:auto val="1"/>
        <c:lblAlgn val="ctr"/>
        <c:lblOffset val="100"/>
        <c:noMultiLvlLbl val="0"/>
      </c:catAx>
      <c:valAx>
        <c:axId val="17558232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330" b="0" i="0" u="none" strike="noStrike" baseline="0" dirty="0">
                    <a:solidFill>
                      <a:schemeClr val="bg1"/>
                    </a:solidFill>
                  </a:rPr>
                  <a:t>Prediction Accuracy (%)</a:t>
                </a:r>
                <a:endParaRPr lang="en-IN" dirty="0">
                  <a:solidFill>
                    <a:schemeClr val="bg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0%" sourceLinked="1"/>
        <c:majorTickMark val="out"/>
        <c:minorTickMark val="none"/>
        <c:tickLblPos val="nextTo"/>
        <c:spPr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5822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>
      <a:glow rad="127000">
        <a:srgbClr val="00D1C1">
          <a:alpha val="0"/>
        </a:srgbClr>
      </a:glo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Percentages</c:v>
                </c:pt>
              </c:strCache>
            </c:strRef>
          </c:tx>
          <c:spPr>
            <a:effectLst>
              <a:glow>
                <a:schemeClr val="accent1">
                  <a:alpha val="40000"/>
                </a:schemeClr>
              </a:glow>
            </a:effectLst>
          </c:spPr>
          <c:dPt>
            <c:idx val="0"/>
            <c:bubble3D val="0"/>
            <c:spPr>
              <a:solidFill>
                <a:srgbClr val="00E5FF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1-2D14-4DDA-B882-6A92C21832AD}"/>
              </c:ext>
            </c:extLst>
          </c:dPt>
          <c:dPt>
            <c:idx val="1"/>
            <c:bubble3D val="0"/>
            <c:spPr>
              <a:solidFill>
                <a:srgbClr val="00FF87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2-2D14-4DDA-B882-6A92C21832AD}"/>
              </c:ext>
            </c:extLst>
          </c:dPt>
          <c:dPt>
            <c:idx val="2"/>
            <c:bubble3D val="0"/>
            <c:spPr>
              <a:solidFill>
                <a:srgbClr val="FFD600"/>
              </a:solidFill>
              <a:ln w="19050">
                <a:solidFill>
                  <a:schemeClr val="lt1"/>
                </a:solidFill>
              </a:ln>
              <a:effectLst>
                <a:glow>
                  <a:schemeClr val="accent1">
                    <a:alpha val="40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3-2D14-4DDA-B882-6A92C21832AD}"/>
              </c:ext>
            </c:extLst>
          </c:dPt>
          <c:cat>
            <c:strRef>
              <c:f>Sheet1!$A$2:$A$4</c:f>
              <c:strCache>
                <c:ptCount val="3"/>
                <c:pt idx="0">
                  <c:v>Efficiency</c:v>
                </c:pt>
                <c:pt idx="1">
                  <c:v>Economic</c:v>
                </c:pt>
                <c:pt idx="2">
                  <c:v>Surveillance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14-4DDA-B882-6A92C21832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0B5B6-7585-4F3F-94D1-0558F5242F20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CEB9C-E7B8-4B23-9E48-A5F634267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642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85B97-4C0D-F8C0-2667-6C26581DA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0E5CA-D9B4-FB07-C151-D385BEDE9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56BBD-031C-E410-5E23-516D909C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7FDF-5615-48D3-8BDE-039D4985A91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33F7C-4FB5-8976-0C84-63B563ECA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6854C-74C2-CB30-9964-C8A5EECF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F482-66B2-45ED-9E24-D8554B2F6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4835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D40B-87D6-E4F8-CFCE-F6C96F48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D8990-0828-7A4A-ED09-E45CC603A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C6C68-4984-918B-1E4E-76A93497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7FDF-5615-48D3-8BDE-039D4985A91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0833A-250E-FA77-54A1-F9007A951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67A4E-5F8A-43A8-E093-189258B3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F482-66B2-45ED-9E24-D8554B2F6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0467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498D1-DA77-71ED-C352-2278ECDEC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3D2B3-58D2-51A8-915C-412D6C553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99404-ECD8-7DA3-C22A-181A64EF1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7FDF-5615-48D3-8BDE-039D4985A91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68FE6-2024-CC7E-C6FE-6B17795E1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427A1-19E2-A82A-68B8-89276B362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F482-66B2-45ED-9E24-D8554B2F6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8743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9653A-7E3A-40EC-1A4D-861D36010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4E7BF-F26A-4CE0-C669-B510935B01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383A5-0F02-AE4A-855C-D769F7BF5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2B69C-0BF3-0EBA-F8E8-4371EADF3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7FDF-5615-48D3-8BDE-039D4985A91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F50CB-7195-1812-420E-F5C1D21D7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53CF8-319B-A072-8617-90EE93DDF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F482-66B2-45ED-9E24-D8554B2F6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6718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39A03-D823-3110-A689-678414502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8DC1D-27A2-520E-BF1A-F9D90BF69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22BE0-1743-2481-E4EB-A5544071B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AAC93-1DA1-6902-8919-2EC32CFE48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274BE-2960-B3E6-1282-A6FFACB3E3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68234B-78C1-FDD0-E574-C5827D33D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7FDF-5615-48D3-8BDE-039D4985A91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D71FB4-1689-2FE4-DD9A-C49F6E200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4BEE5F-CFE7-549B-0789-F47AFD055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F482-66B2-45ED-9E24-D8554B2F6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1673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936AB-E8DD-F0E0-B833-3E3B5DEC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8492A-5435-D830-CD6E-88F377CD5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7FDF-5615-48D3-8BDE-039D4985A91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18F19-50A8-D6C9-CC17-73FFC0995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56FFF-A7D1-E4BF-6C04-406FD9F5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F482-66B2-45ED-9E24-D8554B2F6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0897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87FE0A-83EE-5C47-3730-1FDC9ADA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7FDF-5615-48D3-8BDE-039D4985A91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CDFA92-F34F-1F2B-7D72-189DE238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1E9A6-2D98-EEF3-6578-753DE638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F482-66B2-45ED-9E24-D8554B2F6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669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6BDB-DCD7-3EEC-435B-1F0D3083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3FE2B-74AA-CD90-6E1A-2D7D763F7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3D54E-6031-F18A-97F2-0166A8269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DF46-EA4C-B69B-8D03-FCD2433E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7FDF-5615-48D3-8BDE-039D4985A91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47B25-F3BF-3AD5-AE06-10897F6B7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4298A-751C-D297-06EA-BF091DD5D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F482-66B2-45ED-9E24-D8554B2F6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9556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BF84-3B3D-8CA3-9B64-B967D5CB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B382E2-CD02-AF5E-6033-01F9373E0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A8DD9-6587-C289-BCEB-17E94A659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B397A-F155-57BF-C1B8-012EAD604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7FDF-5615-48D3-8BDE-039D4985A91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C5D1C-389B-6C4F-E13F-C1490D1D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CA8A1-8819-C53E-321C-6B25C599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F482-66B2-45ED-9E24-D8554B2F6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7317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BF547-D0EB-F3AC-1F89-5011BAD31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852EA-47C9-6447-65EE-BDDE5910D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ED9B9-1187-378E-7BEF-3836E6D4A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7FDF-5615-48D3-8BDE-039D4985A91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E494F-C01A-7F8B-BA5A-DC58E072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01CCC-14EB-69F5-EC15-627DF6A5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F482-66B2-45ED-9E24-D8554B2F6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2876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4CA1FE-A904-8EC5-8C6A-1199148E83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EC0BF-9254-F7BB-8C26-FDD2FF6AE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7580F-997B-70E1-78C5-58253071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7FDF-5615-48D3-8BDE-039D4985A91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87EE2-EC06-2E28-873D-77AF76FCE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07C6E-B9DA-04CA-DB6C-771AF035D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F482-66B2-45ED-9E24-D8554B2F6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880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559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598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323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6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039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81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1487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271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466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6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56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2F98AC-C165-2BAE-DAE9-27531B53F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B5CE3-31C9-8B21-D945-DB861D3E1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A82C2-B808-DBA6-9CC5-DE86E5628A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037FDF-5615-48D3-8BDE-039D4985A91E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F01AC-AE99-DD6A-AEDB-919CDEC98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FFDDF-FF17-66C9-818C-32DC862E4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DF482-66B2-45ED-9E24-D8554B2F62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2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88061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4.png"/><Relationship Id="rId3" Type="http://schemas.openxmlformats.org/officeDocument/2006/relationships/slide" Target="slide2.xml"/><Relationship Id="rId7" Type="http://schemas.openxmlformats.org/officeDocument/2006/relationships/image" Target="../media/image2.png"/><Relationship Id="rId12" Type="http://schemas.openxmlformats.org/officeDocument/2006/relationships/slide" Target="slide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image" Target="../media/image4.png"/><Relationship Id="rId5" Type="http://schemas.openxmlformats.org/officeDocument/2006/relationships/image" Target="../media/image2.png"/><Relationship Id="rId10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slide" Target="slide8.xml"/><Relationship Id="rId1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7DAC2-C46C-6C17-EB5B-D9626134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4725F18-40BE-2568-A8A1-983DE98EEB18}"/>
              </a:ext>
            </a:extLst>
          </p:cNvPr>
          <p:cNvSpPr/>
          <p:nvPr/>
        </p:nvSpPr>
        <p:spPr>
          <a:xfrm>
            <a:off x="777240" y="3849624"/>
            <a:ext cx="2176270" cy="1997964"/>
          </a:xfrm>
          <a:prstGeom prst="ellipse">
            <a:avLst/>
          </a:prstGeom>
          <a:solidFill>
            <a:schemeClr val="bg1">
              <a:alpha val="1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01D36F8-0820-E1DD-DADC-4874FFCC493A}"/>
              </a:ext>
            </a:extLst>
          </p:cNvPr>
          <p:cNvSpPr/>
          <p:nvPr/>
        </p:nvSpPr>
        <p:spPr>
          <a:xfrm>
            <a:off x="3557397" y="3851910"/>
            <a:ext cx="2176270" cy="1997964"/>
          </a:xfrm>
          <a:prstGeom prst="ellipse">
            <a:avLst/>
          </a:prstGeom>
          <a:solidFill>
            <a:schemeClr val="bg1">
              <a:alpha val="1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2280F2-DA6A-C086-8DE6-6593F23D2803}"/>
              </a:ext>
            </a:extLst>
          </p:cNvPr>
          <p:cNvSpPr/>
          <p:nvPr/>
        </p:nvSpPr>
        <p:spPr>
          <a:xfrm>
            <a:off x="6337555" y="3849624"/>
            <a:ext cx="2176270" cy="1997964"/>
          </a:xfrm>
          <a:prstGeom prst="ellipse">
            <a:avLst/>
          </a:prstGeom>
          <a:solidFill>
            <a:schemeClr val="bg1">
              <a:alpha val="1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586C29-AE92-37DC-76EC-5D72D8984208}"/>
              </a:ext>
            </a:extLst>
          </p:cNvPr>
          <p:cNvSpPr/>
          <p:nvPr/>
        </p:nvSpPr>
        <p:spPr>
          <a:xfrm>
            <a:off x="9238490" y="3849624"/>
            <a:ext cx="2176270" cy="1997964"/>
          </a:xfrm>
          <a:prstGeom prst="ellipse">
            <a:avLst/>
          </a:prstGeom>
          <a:solidFill>
            <a:schemeClr val="bg1">
              <a:alpha val="1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6649C7-F343-8E42-3A02-4FAA37F9EF35}"/>
              </a:ext>
            </a:extLst>
          </p:cNvPr>
          <p:cNvSpPr txBox="1"/>
          <p:nvPr/>
        </p:nvSpPr>
        <p:spPr>
          <a:xfrm>
            <a:off x="1228822" y="6007608"/>
            <a:ext cx="1273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The Crisis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1C5D93-2C1C-376F-AC5D-1DD1ADACB5E9}"/>
              </a:ext>
            </a:extLst>
          </p:cNvPr>
          <p:cNvSpPr txBox="1"/>
          <p:nvPr/>
        </p:nvSpPr>
        <p:spPr>
          <a:xfrm>
            <a:off x="3682736" y="6007608"/>
            <a:ext cx="1925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The Intelligence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ACE891-293D-3C91-821E-85EA4FF64BA7}"/>
              </a:ext>
            </a:extLst>
          </p:cNvPr>
          <p:cNvSpPr txBox="1"/>
          <p:nvPr/>
        </p:nvSpPr>
        <p:spPr>
          <a:xfrm>
            <a:off x="6493383" y="6007608"/>
            <a:ext cx="1864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The Experience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09B59-C33E-4261-5E68-D91491CEBB79}"/>
              </a:ext>
            </a:extLst>
          </p:cNvPr>
          <p:cNvSpPr txBox="1"/>
          <p:nvPr/>
        </p:nvSpPr>
        <p:spPr>
          <a:xfrm>
            <a:off x="9668432" y="6007608"/>
            <a:ext cx="1316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The Vision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EF77FB7-3877-3A35-8DC6-888CF81D8E77}"/>
              </a:ext>
            </a:extLst>
          </p:cNvPr>
          <p:cNvSpPr/>
          <p:nvPr/>
        </p:nvSpPr>
        <p:spPr>
          <a:xfrm>
            <a:off x="-31851600" y="-17916525"/>
            <a:ext cx="75895200" cy="42691050"/>
          </a:xfrm>
          <a:custGeom>
            <a:avLst/>
            <a:gdLst>
              <a:gd name="csX0" fmla="*/ 6099049 w 12192000"/>
              <a:gd name="csY0" fmla="*/ 2288288 h 6858000"/>
              <a:gd name="csX1" fmla="*/ 4961766 w 12192000"/>
              <a:gd name="csY1" fmla="*/ 3425572 h 6858000"/>
              <a:gd name="csX2" fmla="*/ 6099049 w 12192000"/>
              <a:gd name="csY2" fmla="*/ 4562856 h 6858000"/>
              <a:gd name="csX3" fmla="*/ 7236333 w 12192000"/>
              <a:gd name="csY3" fmla="*/ 3425572 h 6858000"/>
              <a:gd name="csX4" fmla="*/ 6099049 w 12192000"/>
              <a:gd name="csY4" fmla="*/ 2288288 h 6858000"/>
              <a:gd name="csX5" fmla="*/ 0 w 12192000"/>
              <a:gd name="csY5" fmla="*/ 0 h 6858000"/>
              <a:gd name="csX6" fmla="*/ 12192000 w 12192000"/>
              <a:gd name="csY6" fmla="*/ 0 h 6858000"/>
              <a:gd name="csX7" fmla="*/ 12192000 w 12192000"/>
              <a:gd name="csY7" fmla="*/ 6858000 h 6858000"/>
              <a:gd name="csX8" fmla="*/ 0 w 12192000"/>
              <a:gd name="csY8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92000" h="6858000">
                <a:moveTo>
                  <a:pt x="6099049" y="2288288"/>
                </a:moveTo>
                <a:cubicBezTo>
                  <a:pt x="5470944" y="2288288"/>
                  <a:pt x="4961766" y="2797467"/>
                  <a:pt x="4961766" y="3425572"/>
                </a:cubicBezTo>
                <a:cubicBezTo>
                  <a:pt x="4961766" y="4053677"/>
                  <a:pt x="5470944" y="4562856"/>
                  <a:pt x="6099049" y="4562856"/>
                </a:cubicBezTo>
                <a:cubicBezTo>
                  <a:pt x="6727154" y="4562856"/>
                  <a:pt x="7236333" y="4053677"/>
                  <a:pt x="7236333" y="3425572"/>
                </a:cubicBezTo>
                <a:cubicBezTo>
                  <a:pt x="7236333" y="2797467"/>
                  <a:pt x="6727154" y="2288288"/>
                  <a:pt x="6099049" y="228828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C1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1" name="Section Zoom 40">
                <a:extLst>
                  <a:ext uri="{FF2B5EF4-FFF2-40B4-BE49-F238E27FC236}">
                    <a16:creationId xmlns:a16="http://schemas.microsoft.com/office/drawing/2014/main" id="{A5824393-0C88-CC1A-A4FE-60D646600B0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58051799"/>
                  </p:ext>
                </p:extLst>
              </p:nvPr>
            </p:nvGraphicFramePr>
            <p:xfrm>
              <a:off x="1243237" y="4168855"/>
              <a:ext cx="1244275" cy="1234478"/>
            </p:xfrm>
            <a:graphic>
              <a:graphicData uri="http://schemas.microsoft.com/office/powerpoint/2016/sectionzoom">
                <psez:sectionZm>
                  <psez:sectionZmObj sectionId="{DA2F624F-9AEF-4D8B-A2C3-23CD0C69B483}">
                    <psez:zmPr id="{2B0943C0-8CC9-43A6-87EB-250C72CFDBF7}" imageType="cover" transitionDur="1000">
                      <p166:blipFill xmlns:p166="http://schemas.microsoft.com/office/powerpoint/2016/6/main"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44275" cy="1234478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1" name="Section Zoom 40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5824393-0C88-CC1A-A4FE-60D646600B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43237" y="4168855"/>
                <a:ext cx="1244275" cy="1234478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3" name="Section Zoom 42">
                <a:extLst>
                  <a:ext uri="{FF2B5EF4-FFF2-40B4-BE49-F238E27FC236}">
                    <a16:creationId xmlns:a16="http://schemas.microsoft.com/office/drawing/2014/main" id="{42F917AC-77C3-440E-A7A2-678EC068B20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34347930"/>
                  </p:ext>
                </p:extLst>
              </p:nvPr>
            </p:nvGraphicFramePr>
            <p:xfrm>
              <a:off x="3784964" y="3922599"/>
              <a:ext cx="1714500" cy="1714500"/>
            </p:xfrm>
            <a:graphic>
              <a:graphicData uri="http://schemas.microsoft.com/office/powerpoint/2016/sectionzoom">
                <psez:sectionZm>
                  <psez:sectionZmObj sectionId="{0325D7B5-9768-4089-8783-D7B3B1186DE1}">
                    <psez:zmPr id="{7AE12860-57BB-44C1-8A61-FAA44EE78829}" imageType="cover" transitionDur="1000">
                      <p166:blipFill xmlns:p166="http://schemas.microsoft.com/office/powerpoint/2016/6/main"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14500" cy="17145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3" name="Section Zoom 42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42F917AC-77C3-440E-A7A2-678EC068B20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84964" y="3922599"/>
                <a:ext cx="1714500" cy="17145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5" name="Section Zoom 44">
                <a:extLst>
                  <a:ext uri="{FF2B5EF4-FFF2-40B4-BE49-F238E27FC236}">
                    <a16:creationId xmlns:a16="http://schemas.microsoft.com/office/drawing/2014/main" id="{58CAF95C-746E-B41B-B42D-725B493AD8A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42267529"/>
                  </p:ext>
                </p:extLst>
              </p:nvPr>
            </p:nvGraphicFramePr>
            <p:xfrm>
              <a:off x="6719046" y="4214241"/>
              <a:ext cx="1413286" cy="1402245"/>
            </p:xfrm>
            <a:graphic>
              <a:graphicData uri="http://schemas.microsoft.com/office/powerpoint/2016/sectionzoom">
                <psez:sectionZm>
                  <psez:sectionZmObj sectionId="{D449A786-841A-43BB-ACB5-258C802B74C3}">
                    <psez:zmPr id="{37B36D14-3A38-409D-9EC2-727920019F94}" imageType="cover" transitionDur="1000">
                      <p166:blipFill xmlns:p166="http://schemas.microsoft.com/office/powerpoint/2016/6/main"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13286" cy="140224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5" name="Section Zoom 44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58CAF95C-746E-B41B-B42D-725B493AD8A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19046" y="4214241"/>
                <a:ext cx="1413286" cy="1402245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7" name="Section Zoom 46">
                <a:extLst>
                  <a:ext uri="{FF2B5EF4-FFF2-40B4-BE49-F238E27FC236}">
                    <a16:creationId xmlns:a16="http://schemas.microsoft.com/office/drawing/2014/main" id="{AE10B9AE-2B99-2850-297F-6A5BAA90ED4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6832560"/>
                  </p:ext>
                </p:extLst>
              </p:nvPr>
            </p:nvGraphicFramePr>
            <p:xfrm>
              <a:off x="9720946" y="4214241"/>
              <a:ext cx="1219581" cy="1228750"/>
            </p:xfrm>
            <a:graphic>
              <a:graphicData uri="http://schemas.microsoft.com/office/powerpoint/2016/sectionzoom">
                <psez:sectionZm>
                  <psez:sectionZmObj sectionId="{6F8F77D8-8D40-4BB8-A190-3BF62707AC54}">
                    <psez:zmPr id="{568DF9C9-99B7-4E97-A3E9-41402E99193E}" imageType="cover" transitionDur="1000">
                      <p166:blipFill xmlns:p166="http://schemas.microsoft.com/office/powerpoint/2016/6/main"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19581" cy="122875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7" name="Section Zoom 46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AE10B9AE-2B99-2850-297F-6A5BAA90ED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20946" y="4214241"/>
                <a:ext cx="1219581" cy="122875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p:pic>
        <p:nvPicPr>
          <p:cNvPr id="56" name="Picture 55">
            <a:extLst>
              <a:ext uri="{FF2B5EF4-FFF2-40B4-BE49-F238E27FC236}">
                <a16:creationId xmlns:a16="http://schemas.microsoft.com/office/drawing/2014/main" id="{3654D89B-73C6-7EF3-6F0F-A9A7A98B4A7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40228" y="643716"/>
            <a:ext cx="8911544" cy="162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646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81750" y="193357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1933575"/>
            <a:ext cx="54906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A5FFC9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ECONOMIC BARRIER</a:t>
            </a:r>
          </a:p>
        </p:txBody>
      </p:sp>
      <p:sp>
        <p:nvSpPr>
          <p:cNvPr id="95" name="Google Shape;95;p14"/>
          <p:cNvSpPr txBox="1"/>
          <p:nvPr/>
        </p:nvSpPr>
        <p:spPr>
          <a:xfrm>
            <a:off x="581025" y="2343150"/>
            <a:ext cx="52292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Average consultation fees of </a:t>
            </a:r>
            <a:r>
              <a:rPr lang="en-US" sz="2000" b="1" i="0" u="none" strike="noStrike" cap="none" dirty="0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₹300-800</a:t>
            </a:r>
            <a:r>
              <a:rPr lang="en-US" sz="2000" b="0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represent a full day's wage for 500M+ Indians. This results in:</a:t>
            </a:r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91275" y="1943100"/>
            <a:ext cx="5210175" cy="3790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05F7AC6-DFED-EAA2-AFD9-44923FCDE4B2}"/>
              </a:ext>
            </a:extLst>
          </p:cNvPr>
          <p:cNvGrpSpPr/>
          <p:nvPr/>
        </p:nvGrpSpPr>
        <p:grpSpPr>
          <a:xfrm>
            <a:off x="571499" y="3532227"/>
            <a:ext cx="5229225" cy="923330"/>
            <a:chOff x="581025" y="3076575"/>
            <a:chExt cx="5229225" cy="923330"/>
          </a:xfrm>
        </p:grpSpPr>
        <p:sp>
          <p:nvSpPr>
            <p:cNvPr id="97" name="Google Shape;97;p14"/>
            <p:cNvSpPr txBox="1"/>
            <p:nvPr/>
          </p:nvSpPr>
          <p:spPr>
            <a:xfrm>
              <a:off x="581025" y="3076575"/>
              <a:ext cx="5229225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62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rgbClr val="A5FFC9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65%</a:t>
              </a:r>
              <a:r>
                <a:rPr lang="en-US" sz="2000" b="0" i="0" u="none" strike="noStrike" cap="none" dirty="0">
                  <a:solidFill>
                    <a:srgbClr val="CBD5E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 of rural Indians delay visits until emergencies.</a:t>
              </a:r>
            </a:p>
          </p:txBody>
        </p:sp>
        <p:pic>
          <p:nvPicPr>
            <p:cNvPr id="99" name="Google Shape;99;p14" descr="image.png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581025" y="3109912"/>
              <a:ext cx="180975" cy="19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5FED006-4CD4-E9AA-B0C1-3FEAFE253448}"/>
              </a:ext>
            </a:extLst>
          </p:cNvPr>
          <p:cNvGrpSpPr/>
          <p:nvPr/>
        </p:nvGrpSpPr>
        <p:grpSpPr>
          <a:xfrm>
            <a:off x="571500" y="4705351"/>
            <a:ext cx="5229225" cy="923330"/>
            <a:chOff x="581025" y="3490912"/>
            <a:chExt cx="5229225" cy="923330"/>
          </a:xfrm>
        </p:grpSpPr>
        <p:sp>
          <p:nvSpPr>
            <p:cNvPr id="98" name="Google Shape;98;p14"/>
            <p:cNvSpPr txBox="1"/>
            <p:nvPr/>
          </p:nvSpPr>
          <p:spPr>
            <a:xfrm>
              <a:off x="581025" y="3490912"/>
              <a:ext cx="5229225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62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rgbClr val="CBD5E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Unnecessary out-of-pocket spending on "guessing" specialists.</a:t>
              </a:r>
            </a:p>
          </p:txBody>
        </p:sp>
        <p:pic>
          <p:nvPicPr>
            <p:cNvPr id="100" name="Google Shape;100;p14" descr="image.png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581025" y="3524250"/>
              <a:ext cx="180975" cy="190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4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D1C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THE ECONOMIC &amp; INFORMATION GAP</a:t>
            </a:r>
          </a:p>
        </p:txBody>
      </p:sp>
      <p:sp>
        <p:nvSpPr>
          <p:cNvPr id="102" name="Google Shape;102;p14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A5FF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8FDD33-58FF-9C2C-47C9-95EE246A1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488" y="1922462"/>
            <a:ext cx="5686425" cy="3790950"/>
          </a:xfrm>
          <a:prstGeom prst="roundRect">
            <a:avLst>
              <a:gd name="adj" fmla="val 594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1400175"/>
            <a:ext cx="1102995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81025" y="5655468"/>
            <a:ext cx="110299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Source: Primary Survey, Aarogya AI Research Group, 2026. Survey of rural/semi-urban households.</a:t>
            </a:r>
          </a:p>
        </p:txBody>
      </p:sp>
      <p:sp>
        <p:nvSpPr>
          <p:cNvPr id="234" name="Google Shape;234;p21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D1C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PRIMARY RESEARCH INSIGHTS</a:t>
            </a:r>
          </a:p>
        </p:txBody>
      </p:sp>
      <p:sp>
        <p:nvSpPr>
          <p:cNvPr id="235" name="Google Shape;235;p21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A5FF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2181225"/>
            <a:ext cx="34861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52925" y="2181225"/>
            <a:ext cx="34861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124825" y="2181225"/>
            <a:ext cx="34861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71550" y="3324225"/>
            <a:ext cx="284035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INFORMATION OVERLOAD</a:t>
            </a:r>
          </a:p>
        </p:txBody>
      </p:sp>
      <p:sp>
        <p:nvSpPr>
          <p:cNvPr id="112" name="Google Shape;112;p15"/>
          <p:cNvSpPr txBox="1"/>
          <p:nvPr/>
        </p:nvSpPr>
        <p:spPr>
          <a:xfrm>
            <a:off x="971550" y="4019550"/>
            <a:ext cx="27051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Search engines create </a:t>
            </a:r>
            <a:r>
              <a:rPr lang="en-US" sz="1425" b="1" i="0" u="none" strike="noStrike" cap="none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anxiety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rather than clarity, offering contradictory data without triage.</a:t>
            </a:r>
          </a:p>
        </p:txBody>
      </p:sp>
      <p:sp>
        <p:nvSpPr>
          <p:cNvPr id="113" name="Google Shape;113;p15"/>
          <p:cNvSpPr txBox="1"/>
          <p:nvPr/>
        </p:nvSpPr>
        <p:spPr>
          <a:xfrm>
            <a:off x="4743450" y="3324225"/>
            <a:ext cx="284035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SPECIALIST MISMATCH</a:t>
            </a:r>
          </a:p>
        </p:txBody>
      </p:sp>
      <p:sp>
        <p:nvSpPr>
          <p:cNvPr id="114" name="Google Shape;114;p15"/>
          <p:cNvSpPr txBox="1"/>
          <p:nvPr/>
        </p:nvSpPr>
        <p:spPr>
          <a:xfrm>
            <a:off x="4743450" y="4019550"/>
            <a:ext cx="27051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Platforms show all doctors but don't guide you to the </a:t>
            </a:r>
            <a:r>
              <a:rPr lang="en-US" sz="1425" b="1" i="0" u="none" strike="noStrike" cap="none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right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one for your specific symptoms.</a:t>
            </a:r>
          </a:p>
        </p:txBody>
      </p:sp>
      <p:sp>
        <p:nvSpPr>
          <p:cNvPr id="115" name="Google Shape;115;p15"/>
          <p:cNvSpPr txBox="1"/>
          <p:nvPr/>
        </p:nvSpPr>
        <p:spPr>
          <a:xfrm>
            <a:off x="8515350" y="3324225"/>
            <a:ext cx="284035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FINANCIAL FRICTION</a:t>
            </a:r>
          </a:p>
        </p:txBody>
      </p:sp>
      <p:sp>
        <p:nvSpPr>
          <p:cNvPr id="116" name="Google Shape;116;p15"/>
          <p:cNvSpPr txBox="1"/>
          <p:nvPr/>
        </p:nvSpPr>
        <p:spPr>
          <a:xfrm>
            <a:off x="8515350" y="3743325"/>
            <a:ext cx="27051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High upfront costs prevent early detection, leading to </a:t>
            </a:r>
            <a:r>
              <a:rPr lang="en-US" sz="1425" b="1" i="0" u="none" strike="noStrike" cap="none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avoidable complications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and higher long-term costs.</a:t>
            </a: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71550" y="2609850"/>
            <a:ext cx="4000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4743450" y="2619375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515350" y="2619375"/>
            <a:ext cx="2667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D1C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WHY EXISTING SOLUTIONS FAIL</a:t>
            </a:r>
          </a:p>
        </p:txBody>
      </p:sp>
      <p:sp>
        <p:nvSpPr>
          <p:cNvPr id="121" name="Google Shape;121;p15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A5FF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81025" y="2643187"/>
            <a:ext cx="522922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D1C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99.3%</a:t>
            </a:r>
          </a:p>
        </p:txBody>
      </p:sp>
      <p:sp>
        <p:nvSpPr>
          <p:cNvPr id="171" name="Google Shape;171;p18"/>
          <p:cNvSpPr txBox="1"/>
          <p:nvPr/>
        </p:nvSpPr>
        <p:spPr>
          <a:xfrm>
            <a:off x="581025" y="3976687"/>
            <a:ext cx="5229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A5FFC9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MODEL ACCURACY</a:t>
            </a:r>
          </a:p>
        </p:txBody>
      </p:sp>
      <p:sp>
        <p:nvSpPr>
          <p:cNvPr id="172" name="Google Shape;172;p18"/>
          <p:cNvSpPr txBox="1"/>
          <p:nvPr/>
        </p:nvSpPr>
        <p:spPr>
          <a:xfrm>
            <a:off x="1290637" y="4491037"/>
            <a:ext cx="3810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Achieved by </a:t>
            </a:r>
            <a:r>
              <a:rPr lang="en-US" sz="1425" b="1" i="0" u="none" strike="noStrike" cap="none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Naive Bayes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classifier across 205 benchmarked model configurations.</a:t>
            </a:r>
          </a:p>
        </p:txBody>
      </p:sp>
      <p:sp>
        <p:nvSpPr>
          <p:cNvPr id="173" name="Google Shape;173;p18"/>
          <p:cNvSpPr txBox="1"/>
          <p:nvPr/>
        </p:nvSpPr>
        <p:spPr>
          <a:xfrm>
            <a:off x="6381750" y="264318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A5FFC9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RIGOROUS VALIDATION</a:t>
            </a:r>
          </a:p>
        </p:txBody>
      </p:sp>
      <p:sp>
        <p:nvSpPr>
          <p:cNvPr id="174" name="Google Shape;174;p18"/>
          <p:cNvSpPr txBox="1"/>
          <p:nvPr/>
        </p:nvSpPr>
        <p:spPr>
          <a:xfrm>
            <a:off x="6381750" y="3052762"/>
            <a:ext cx="52292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4,920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Clinical Cases analyzed.</a:t>
            </a:r>
          </a:p>
        </p:txBody>
      </p:sp>
      <p:sp>
        <p:nvSpPr>
          <p:cNvPr id="175" name="Google Shape;175;p18"/>
          <p:cNvSpPr txBox="1"/>
          <p:nvPr/>
        </p:nvSpPr>
        <p:spPr>
          <a:xfrm>
            <a:off x="6381750" y="3514725"/>
            <a:ext cx="52292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41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Distinct Diseases predicted.</a:t>
            </a:r>
          </a:p>
        </p:txBody>
      </p:sp>
      <p:sp>
        <p:nvSpPr>
          <p:cNvPr id="176" name="Google Shape;176;p18"/>
          <p:cNvSpPr txBox="1"/>
          <p:nvPr/>
        </p:nvSpPr>
        <p:spPr>
          <a:xfrm>
            <a:off x="6381750" y="3976687"/>
            <a:ext cx="52292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132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Symptom combinations mapped.</a:t>
            </a:r>
          </a:p>
        </p:txBody>
      </p:sp>
      <p:pic>
        <p:nvPicPr>
          <p:cNvPr id="177" name="Google Shape;177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81750" y="3086100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381750" y="3548062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381750" y="4010025"/>
            <a:ext cx="1809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D1C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99.3% ACCURACY PERFORMANCE</a:t>
            </a:r>
          </a:p>
        </p:txBody>
      </p:sp>
      <p:sp>
        <p:nvSpPr>
          <p:cNvPr id="181" name="Google Shape;181;p18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A5FF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1933574"/>
            <a:ext cx="2988022" cy="434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854797" y="1933575"/>
            <a:ext cx="2988171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128718" y="1933574"/>
            <a:ext cx="4482256" cy="426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781050" y="2133600"/>
            <a:ext cx="2587972" cy="238125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4054822" y="2133600"/>
            <a:ext cx="2588121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7328743" y="2133600"/>
            <a:ext cx="4082206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781050" y="4705350"/>
            <a:ext cx="271737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RAPIDMINER AI</a:t>
            </a:r>
          </a:p>
        </p:txBody>
      </p:sp>
      <p:sp>
        <p:nvSpPr>
          <p:cNvPr id="194" name="Google Shape;194;p19"/>
          <p:cNvSpPr txBox="1"/>
          <p:nvPr/>
        </p:nvSpPr>
        <p:spPr>
          <a:xfrm>
            <a:off x="781050" y="5124450"/>
            <a:ext cx="258797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Advanced preprocessing and feature engineering.</a:t>
            </a:r>
          </a:p>
        </p:txBody>
      </p:sp>
      <p:sp>
        <p:nvSpPr>
          <p:cNvPr id="195" name="Google Shape;195;p19"/>
          <p:cNvSpPr txBox="1"/>
          <p:nvPr/>
        </p:nvSpPr>
        <p:spPr>
          <a:xfrm>
            <a:off x="4054822" y="4705350"/>
            <a:ext cx="271752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MENDIX STUDIO</a:t>
            </a:r>
          </a:p>
        </p:txBody>
      </p:sp>
      <p:sp>
        <p:nvSpPr>
          <p:cNvPr id="196" name="Google Shape;196;p19"/>
          <p:cNvSpPr txBox="1"/>
          <p:nvPr/>
        </p:nvSpPr>
        <p:spPr>
          <a:xfrm>
            <a:off x="4054822" y="5124450"/>
            <a:ext cx="258812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Enterprise-grade application architecture.</a:t>
            </a:r>
          </a:p>
        </p:txBody>
      </p:sp>
      <p:sp>
        <p:nvSpPr>
          <p:cNvPr id="197" name="Google Shape;197;p19"/>
          <p:cNvSpPr txBox="1"/>
          <p:nvPr/>
        </p:nvSpPr>
        <p:spPr>
          <a:xfrm>
            <a:off x="7328743" y="4705350"/>
            <a:ext cx="428631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Geoapify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API</a:t>
            </a:r>
          </a:p>
        </p:txBody>
      </p:sp>
      <p:sp>
        <p:nvSpPr>
          <p:cNvPr id="198" name="Google Shape;198;p19"/>
          <p:cNvSpPr txBox="1"/>
          <p:nvPr/>
        </p:nvSpPr>
        <p:spPr>
          <a:xfrm>
            <a:off x="7328743" y="5124450"/>
            <a:ext cx="4082206" cy="98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25" b="0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Live clinic discovery powered by real-world location data. Hardcoded to Nagpur pilot zone, </a:t>
            </a:r>
            <a:r>
              <a:rPr lang="en-US" sz="1425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hase 2 adds dynamic GPS.</a:t>
            </a:r>
          </a:p>
        </p:txBody>
      </p:sp>
      <p:pic>
        <p:nvPicPr>
          <p:cNvPr id="200" name="Google Shape;200;p19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4064347" y="2143125"/>
            <a:ext cx="2569071" cy="2362200"/>
          </a:xfrm>
          <a:prstGeom prst="roundRect">
            <a:avLst>
              <a:gd name="adj" fmla="val 8987"/>
            </a:avLst>
          </a:prstGeom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7338268" y="2143125"/>
            <a:ext cx="4063156" cy="2362200"/>
          </a:xfrm>
          <a:prstGeom prst="roundRect">
            <a:avLst>
              <a:gd name="adj" fmla="val 8987"/>
            </a:avLst>
          </a:prstGeom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02" name="Google Shape;202;p19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D1C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TECH STACK &amp; INTELLIGENCE BACKBONE</a:t>
            </a:r>
          </a:p>
        </p:txBody>
      </p:sp>
      <p:sp>
        <p:nvSpPr>
          <p:cNvPr id="203" name="Google Shape;203;p19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A5FF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F18DBF-FD40-7EA0-5D74-C2066E60ACC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146" t="4415" r="26167" b="1976"/>
          <a:stretch>
            <a:fillRect/>
          </a:stretch>
        </p:blipFill>
        <p:spPr>
          <a:xfrm>
            <a:off x="771525" y="2124075"/>
            <a:ext cx="2587971" cy="2381250"/>
          </a:xfrm>
          <a:prstGeom prst="roundRect">
            <a:avLst>
              <a:gd name="adj" fmla="val 8987"/>
            </a:avLst>
          </a:prstGeom>
          <a:ln>
            <a:noFill/>
          </a:ln>
          <a:effectLst>
            <a:glow rad="114300">
              <a:srgbClr val="00D1C1">
                <a:alpha val="29000"/>
              </a:srgbClr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2071687"/>
            <a:ext cx="5229225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781050" y="2271712"/>
            <a:ext cx="507063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VALIDATION METRICS</a:t>
            </a:r>
          </a:p>
        </p:txBody>
      </p:sp>
      <p:sp>
        <p:nvSpPr>
          <p:cNvPr id="244" name="Google Shape;244;p22"/>
          <p:cNvSpPr txBox="1"/>
          <p:nvPr/>
        </p:nvSpPr>
        <p:spPr>
          <a:xfrm>
            <a:off x="781050" y="2681287"/>
            <a:ext cx="482917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25" b="1" i="0" u="none" strike="noStrike" cap="none" dirty="0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Zero Critical False-Negatives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for emergency symptoms (chest pain, breathlessness).</a:t>
            </a:r>
          </a:p>
        </p:txBody>
      </p:sp>
      <p:sp>
        <p:nvSpPr>
          <p:cNvPr id="245" name="Google Shape;245;p22"/>
          <p:cNvSpPr txBox="1"/>
          <p:nvPr/>
        </p:nvSpPr>
        <p:spPr>
          <a:xfrm>
            <a:off x="781050" y="3367087"/>
            <a:ext cx="48291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Benchmarked against </a:t>
            </a:r>
            <a:r>
              <a:rPr lang="en-US" sz="1425" b="1" i="0" u="none" strike="noStrike" cap="none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Gemini Advanced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medical reasoning for edge cases.</a:t>
            </a:r>
          </a:p>
        </p:txBody>
      </p:sp>
      <p:sp>
        <p:nvSpPr>
          <p:cNvPr id="246" name="Google Shape;246;p22"/>
          <p:cNvSpPr txBox="1"/>
          <p:nvPr/>
        </p:nvSpPr>
        <p:spPr>
          <a:xfrm>
            <a:off x="781050" y="4052887"/>
            <a:ext cx="48291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0.7% Classification Error — </a:t>
            </a:r>
            <a:r>
              <a:rPr lang="en-US" sz="1425" b="1" i="0" u="none" strike="noStrike" cap="none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Clinical Grade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performance.</a:t>
            </a:r>
          </a:p>
        </p:txBody>
      </p:sp>
      <p:pic>
        <p:nvPicPr>
          <p:cNvPr id="248" name="Google Shape;248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81050" y="2719387"/>
            <a:ext cx="1809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81050" y="4090987"/>
            <a:ext cx="1809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D1C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CLINICAL VALIDATION STANDARDS</a:t>
            </a:r>
          </a:p>
        </p:txBody>
      </p:sp>
      <p:sp>
        <p:nvSpPr>
          <p:cNvPr id="251" name="Google Shape;251;p22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A5FF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39A8ED-2199-7D95-7BC4-75B9182B73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9387041"/>
              </p:ext>
            </p:extLst>
          </p:nvPr>
        </p:nvGraphicFramePr>
        <p:xfrm>
          <a:off x="6010275" y="1600200"/>
          <a:ext cx="58978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81025" y="1590675"/>
            <a:ext cx="49434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Aarogya AI connects patients, clinics, and health workers in a single intelligence layer.</a:t>
            </a:r>
          </a:p>
        </p:txBody>
      </p:sp>
      <p:sp>
        <p:nvSpPr>
          <p:cNvPr id="129" name="Google Shape;129;p16"/>
          <p:cNvSpPr txBox="1"/>
          <p:nvPr/>
        </p:nvSpPr>
        <p:spPr>
          <a:xfrm>
            <a:off x="581025" y="2505075"/>
            <a:ext cx="4943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Symptom Triage: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Tell us how you feel; we tell you the urgency.</a:t>
            </a:r>
          </a:p>
        </p:txBody>
      </p:sp>
      <p:sp>
        <p:nvSpPr>
          <p:cNvPr id="130" name="Google Shape;130;p16"/>
          <p:cNvSpPr txBox="1"/>
          <p:nvPr/>
        </p:nvSpPr>
        <p:spPr>
          <a:xfrm>
            <a:off x="581025" y="3286125"/>
            <a:ext cx="4943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Doctor Discovery: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Find specialists nearby, sorted by distance and price.</a:t>
            </a:r>
          </a:p>
        </p:txBody>
      </p:sp>
      <p:sp>
        <p:nvSpPr>
          <p:cNvPr id="131" name="Google Shape;131;p16"/>
          <p:cNvSpPr txBox="1"/>
          <p:nvPr/>
        </p:nvSpPr>
        <p:spPr>
          <a:xfrm>
            <a:off x="581025" y="4067175"/>
            <a:ext cx="4943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A5FFC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Community Health: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Outbreak detection alerts for ASHA workers.</a:t>
            </a:r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2538412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3319462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1025" y="4100512"/>
            <a:ext cx="1619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71525" y="771525"/>
            <a:ext cx="499062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D1C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A UNIFIED ECOSYSTEM</a:t>
            </a:r>
          </a:p>
        </p:txBody>
      </p:sp>
      <p:sp>
        <p:nvSpPr>
          <p:cNvPr id="136" name="Google Shape;136;p16"/>
          <p:cNvSpPr/>
          <p:nvPr/>
        </p:nvSpPr>
        <p:spPr>
          <a:xfrm>
            <a:off x="581025" y="771525"/>
            <a:ext cx="38100" cy="438150"/>
          </a:xfrm>
          <a:prstGeom prst="rect">
            <a:avLst/>
          </a:prstGeom>
          <a:solidFill>
            <a:srgbClr val="A5FF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70D350B-7D9D-39F7-649F-A4C8E07AE63A}"/>
              </a:ext>
            </a:extLst>
          </p:cNvPr>
          <p:cNvGrpSpPr/>
          <p:nvPr/>
        </p:nvGrpSpPr>
        <p:grpSpPr>
          <a:xfrm>
            <a:off x="5334000" y="75840"/>
            <a:ext cx="6858000" cy="5401393"/>
            <a:chOff x="9810036" y="999271"/>
            <a:chExt cx="6858000" cy="5401393"/>
          </a:xfrm>
          <a:effectLst>
            <a:glow rad="495300">
              <a:schemeClr val="accent1">
                <a:lumMod val="75000"/>
                <a:alpha val="39000"/>
              </a:schemeClr>
            </a:glo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638DA4-C985-2078-7184-2D7D159EC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1769" b="19"/>
            <a:stretch>
              <a:fillRect/>
            </a:stretch>
          </p:blipFill>
          <p:spPr>
            <a:xfrm rot="480000">
              <a:off x="10624846" y="999271"/>
              <a:ext cx="5446944" cy="502138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9703551-2B41-9D06-7F23-7D7E53D1A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133" b="20267"/>
            <a:stretch>
              <a:fillRect/>
            </a:stretch>
          </p:blipFill>
          <p:spPr>
            <a:xfrm rot="480000">
              <a:off x="9810036" y="2313296"/>
              <a:ext cx="6858000" cy="4087368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/>
          <p:cNvGrpSpPr/>
          <p:nvPr/>
        </p:nvGrpSpPr>
        <p:grpSpPr>
          <a:xfrm rot="-480000">
            <a:off x="-1983442" y="-2992453"/>
            <a:ext cx="15610012" cy="11115226"/>
            <a:chOff x="9810036" y="999271"/>
            <a:chExt cx="6858000" cy="5401393"/>
          </a:xfrm>
          <a:effectLst>
            <a:glow rad="495300">
              <a:schemeClr val="accent1">
                <a:lumMod val="75000"/>
                <a:alpha val="39000"/>
              </a:schemeClr>
            </a:glow>
          </a:effectLst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1769" b="19"/>
            <a:stretch>
              <a:fillRect/>
            </a:stretch>
          </p:blipFill>
          <p:spPr>
            <a:xfrm rot="480000">
              <a:off x="10624846" y="999271"/>
              <a:ext cx="5446944" cy="5021381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133" b="20267"/>
            <a:stretch>
              <a:fillRect/>
            </a:stretch>
          </p:blipFill>
          <p:spPr>
            <a:xfrm rot="480000">
              <a:off x="9810036" y="2313296"/>
              <a:ext cx="6858000" cy="4087368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D1C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SYSTEM ARCHITECTURE &amp; PIPELINE</a:t>
            </a:r>
          </a:p>
        </p:txBody>
      </p:sp>
      <p:sp>
        <p:nvSpPr>
          <p:cNvPr id="164" name="Google Shape;164;p17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A5FF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StageBox0"/>
          <p:cNvSpPr>
            <a:spLocks noGrp="1"/>
          </p:cNvSpPr>
          <p:nvPr/>
        </p:nvSpPr>
        <p:spPr>
          <a:xfrm>
            <a:off x="596000" y="1524000"/>
            <a:ext cx="2040000" cy="685800"/>
          </a:xfrm>
          <a:prstGeom prst="rect">
            <a:avLst/>
          </a:prstGeom>
          <a:solidFill>
            <a:srgbClr val="0D2A2A"/>
          </a:solidFill>
          <a:ln w="19050">
            <a:solidFill>
              <a:srgbClr val="00D1C1"/>
            </a:solidFill>
          </a:ln>
        </p:spPr>
        <p:txBody>
          <a:bodyPr wrap="square" lIns="91440" tIns="91440" rIns="91440" bIns="91440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00D1C1"/>
                </a:solidFill>
                <a:latin typeface="+mj-lt"/>
              </a:rPr>
              <a:t>SYMPTOM
INGESTION</a:t>
            </a:r>
          </a:p>
        </p:txBody>
      </p:sp>
      <p:sp>
        <p:nvSpPr>
          <p:cNvPr id="201" name="Arrow0"/>
          <p:cNvSpPr>
            <a:spLocks noGrp="1"/>
          </p:cNvSpPr>
          <p:nvPr/>
        </p:nvSpPr>
        <p:spPr>
          <a:xfrm>
            <a:off x="2636000" y="1816900"/>
            <a:ext cx="200000" cy="1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D1C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DescBox0"/>
          <p:cNvSpPr>
            <a:spLocks noGrp="1"/>
          </p:cNvSpPr>
          <p:nvPr/>
        </p:nvSpPr>
        <p:spPr>
          <a:xfrm>
            <a:off x="596000" y="2438400"/>
            <a:ext cx="2040000" cy="3838600"/>
          </a:xfrm>
          <a:prstGeom prst="rect">
            <a:avLst/>
          </a:prstGeom>
          <a:solidFill>
            <a:srgbClr val="0A1F1F"/>
          </a:solidFill>
          <a:ln w="12700">
            <a:solidFill>
              <a:srgbClr val="1A4040"/>
            </a:solidFill>
          </a:ln>
        </p:spPr>
        <p:txBody>
          <a:bodyPr wrap="square" lIns="152400" tIns="152400" rIns="152400" bIns="152400" anchor="t" anchorCtr="0"/>
          <a:lstStyle/>
          <a:p>
            <a:pPr algn="l">
              <a:buNone/>
            </a:pPr>
            <a:r>
              <a:rPr lang="en-US" b="0" dirty="0">
                <a:solidFill>
                  <a:srgbClr val="C8F0ED"/>
                </a:solidFill>
                <a:latin typeface="+mn-lt"/>
              </a:rPr>
              <a:t>Patient inputs up to 5 symptoms via Mendix interface. Works on 2G/low-data networks with no registration required.</a:t>
            </a:r>
          </a:p>
        </p:txBody>
      </p:sp>
      <p:sp>
        <p:nvSpPr>
          <p:cNvPr id="203" name="StageBox1"/>
          <p:cNvSpPr>
            <a:spLocks noGrp="1"/>
          </p:cNvSpPr>
          <p:nvPr/>
        </p:nvSpPr>
        <p:spPr>
          <a:xfrm>
            <a:off x="2836000" y="1524000"/>
            <a:ext cx="2040000" cy="685800"/>
          </a:xfrm>
          <a:prstGeom prst="rect">
            <a:avLst/>
          </a:prstGeom>
          <a:solidFill>
            <a:srgbClr val="0D2A2A"/>
          </a:solidFill>
          <a:ln w="19050">
            <a:solidFill>
              <a:srgbClr val="00D1C1"/>
            </a:solidFill>
          </a:ln>
        </p:spPr>
        <p:txBody>
          <a:bodyPr wrap="square" lIns="91440" tIns="91440" rIns="91440" bIns="91440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00D1C1"/>
                </a:solidFill>
                <a:latin typeface="+mj-lt"/>
              </a:rPr>
              <a:t>DATA
ORCHESTRATION</a:t>
            </a:r>
          </a:p>
        </p:txBody>
      </p:sp>
      <p:sp>
        <p:nvSpPr>
          <p:cNvPr id="204" name="Arrow1"/>
          <p:cNvSpPr>
            <a:spLocks noGrp="1"/>
          </p:cNvSpPr>
          <p:nvPr/>
        </p:nvSpPr>
        <p:spPr>
          <a:xfrm>
            <a:off x="4876000" y="1816900"/>
            <a:ext cx="200000" cy="1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D1C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DescBox1"/>
          <p:cNvSpPr>
            <a:spLocks noGrp="1"/>
          </p:cNvSpPr>
          <p:nvPr/>
        </p:nvSpPr>
        <p:spPr>
          <a:xfrm>
            <a:off x="2836000" y="2438400"/>
            <a:ext cx="2040000" cy="3838600"/>
          </a:xfrm>
          <a:prstGeom prst="rect">
            <a:avLst/>
          </a:prstGeom>
          <a:solidFill>
            <a:srgbClr val="0A1F1F"/>
          </a:solidFill>
          <a:ln w="12700">
            <a:solidFill>
              <a:srgbClr val="1A4040"/>
            </a:solidFill>
          </a:ln>
        </p:spPr>
        <p:txBody>
          <a:bodyPr wrap="square" lIns="152400" tIns="152400" rIns="152400" bIns="152400" anchor="t" anchorCtr="0"/>
          <a:lstStyle/>
          <a:p>
            <a:pPr algn="l">
              <a:buNone/>
            </a:pPr>
            <a:r>
              <a:rPr lang="en-US" b="0" dirty="0">
                <a:solidFill>
                  <a:srgbClr val="C8F0ED"/>
                </a:solidFill>
                <a:latin typeface="+mn-lt"/>
              </a:rPr>
              <a:t>Symptom data is structured, cleaned, and demographically profiled before being passed to the AI engine.</a:t>
            </a:r>
          </a:p>
        </p:txBody>
      </p:sp>
      <p:sp>
        <p:nvSpPr>
          <p:cNvPr id="206" name="StageBox2"/>
          <p:cNvSpPr>
            <a:spLocks noGrp="1"/>
          </p:cNvSpPr>
          <p:nvPr/>
        </p:nvSpPr>
        <p:spPr>
          <a:xfrm>
            <a:off x="5076000" y="1524000"/>
            <a:ext cx="2040000" cy="685800"/>
          </a:xfrm>
          <a:prstGeom prst="rect">
            <a:avLst/>
          </a:prstGeom>
          <a:solidFill>
            <a:srgbClr val="0D2A2A"/>
          </a:solidFill>
          <a:ln w="19050">
            <a:solidFill>
              <a:srgbClr val="00D1C1"/>
            </a:solidFill>
          </a:ln>
        </p:spPr>
        <p:txBody>
          <a:bodyPr wrap="square" lIns="91440" tIns="91440" rIns="91440" bIns="91440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00D1C1"/>
                </a:solidFill>
                <a:latin typeface="+mj-lt"/>
              </a:rPr>
              <a:t>PREDICTIVE
MODELING</a:t>
            </a:r>
          </a:p>
        </p:txBody>
      </p:sp>
      <p:sp>
        <p:nvSpPr>
          <p:cNvPr id="207" name="Arrow2"/>
          <p:cNvSpPr>
            <a:spLocks noGrp="1"/>
          </p:cNvSpPr>
          <p:nvPr/>
        </p:nvSpPr>
        <p:spPr>
          <a:xfrm>
            <a:off x="7116000" y="1816900"/>
            <a:ext cx="200000" cy="1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D1C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DescBox2"/>
          <p:cNvSpPr>
            <a:spLocks noGrp="1"/>
          </p:cNvSpPr>
          <p:nvPr/>
        </p:nvSpPr>
        <p:spPr>
          <a:xfrm>
            <a:off x="5076000" y="2438400"/>
            <a:ext cx="2040000" cy="3838600"/>
          </a:xfrm>
          <a:prstGeom prst="rect">
            <a:avLst/>
          </a:prstGeom>
          <a:solidFill>
            <a:srgbClr val="0A1F1F"/>
          </a:solidFill>
          <a:ln w="12700">
            <a:solidFill>
              <a:srgbClr val="1A4040"/>
            </a:solidFill>
          </a:ln>
        </p:spPr>
        <p:txBody>
          <a:bodyPr wrap="square" lIns="152400" tIns="152400" rIns="152400" bIns="152400" anchor="t" anchorCtr="0"/>
          <a:lstStyle/>
          <a:p>
            <a:pPr algn="l">
              <a:buNone/>
            </a:pPr>
            <a:r>
              <a:rPr lang="en-US" b="0" dirty="0">
                <a:solidFill>
                  <a:srgbClr val="C8F0ED"/>
                </a:solidFill>
                <a:latin typeface="+mn-lt"/>
              </a:rPr>
              <a:t>Naive Bayes classifier maps 132 symptom combinations across 41 diseases</a:t>
            </a:r>
            <a:r>
              <a:rPr lang="en-US" dirty="0">
                <a:solidFill>
                  <a:srgbClr val="C8F0ED"/>
                </a:solidFill>
              </a:rPr>
              <a:t>,</a:t>
            </a:r>
            <a:r>
              <a:rPr lang="en-US" b="0" dirty="0">
                <a:solidFill>
                  <a:srgbClr val="C8F0ED"/>
                </a:solidFill>
                <a:latin typeface="+mn-lt"/>
              </a:rPr>
              <a:t> achieving 99.3% accuracy.</a:t>
            </a:r>
          </a:p>
        </p:txBody>
      </p:sp>
      <p:sp>
        <p:nvSpPr>
          <p:cNvPr id="209" name="StageBox3"/>
          <p:cNvSpPr>
            <a:spLocks noGrp="1"/>
          </p:cNvSpPr>
          <p:nvPr/>
        </p:nvSpPr>
        <p:spPr>
          <a:xfrm>
            <a:off x="7316000" y="1524000"/>
            <a:ext cx="2040000" cy="685800"/>
          </a:xfrm>
          <a:prstGeom prst="rect">
            <a:avLst/>
          </a:prstGeom>
          <a:solidFill>
            <a:srgbClr val="0D2A2A"/>
          </a:solidFill>
          <a:ln w="19050">
            <a:solidFill>
              <a:srgbClr val="00D1C1"/>
            </a:solidFill>
          </a:ln>
        </p:spPr>
        <p:txBody>
          <a:bodyPr wrap="square" lIns="91440" tIns="91440" rIns="91440" bIns="91440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00D1C1"/>
                </a:solidFill>
                <a:latin typeface="+mj-lt"/>
              </a:rPr>
              <a:t>GEOGRAPHIC
ROUTING</a:t>
            </a:r>
          </a:p>
        </p:txBody>
      </p:sp>
      <p:sp>
        <p:nvSpPr>
          <p:cNvPr id="210" name="Arrow3"/>
          <p:cNvSpPr>
            <a:spLocks noGrp="1"/>
          </p:cNvSpPr>
          <p:nvPr/>
        </p:nvSpPr>
        <p:spPr>
          <a:xfrm>
            <a:off x="9356000" y="1816900"/>
            <a:ext cx="200000" cy="1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D1C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DescBox3"/>
          <p:cNvSpPr>
            <a:spLocks noGrp="1"/>
          </p:cNvSpPr>
          <p:nvPr/>
        </p:nvSpPr>
        <p:spPr>
          <a:xfrm>
            <a:off x="7316000" y="2438400"/>
            <a:ext cx="2040000" cy="3838600"/>
          </a:xfrm>
          <a:prstGeom prst="rect">
            <a:avLst/>
          </a:prstGeom>
          <a:solidFill>
            <a:srgbClr val="0A1F1F"/>
          </a:solidFill>
          <a:ln w="12700">
            <a:solidFill>
              <a:srgbClr val="1A4040"/>
            </a:solidFill>
          </a:ln>
        </p:spPr>
        <p:txBody>
          <a:bodyPr wrap="square" lIns="152400" tIns="152400" rIns="152400" bIns="152400" anchor="t" anchorCtr="0"/>
          <a:lstStyle/>
          <a:p>
            <a:pPr algn="l">
              <a:buNone/>
            </a:pPr>
            <a:r>
              <a:rPr lang="en-US" b="0" dirty="0">
                <a:solidFill>
                  <a:srgbClr val="C8F0ED"/>
                </a:solidFill>
                <a:latin typeface="+mn-lt"/>
              </a:rPr>
              <a:t>Geoapify API identifies nearest clinics and specialists, sorted by distance and consultation price.</a:t>
            </a:r>
          </a:p>
        </p:txBody>
      </p:sp>
      <p:sp>
        <p:nvSpPr>
          <p:cNvPr id="212" name="StageBox4"/>
          <p:cNvSpPr>
            <a:spLocks noGrp="1"/>
          </p:cNvSpPr>
          <p:nvPr/>
        </p:nvSpPr>
        <p:spPr>
          <a:xfrm>
            <a:off x="9556000" y="1524000"/>
            <a:ext cx="2040000" cy="685800"/>
          </a:xfrm>
          <a:prstGeom prst="rect">
            <a:avLst/>
          </a:prstGeom>
          <a:solidFill>
            <a:srgbClr val="0D2A2A"/>
          </a:solidFill>
          <a:ln w="19050">
            <a:solidFill>
              <a:srgbClr val="00D1C1"/>
            </a:solidFill>
          </a:ln>
        </p:spPr>
        <p:txBody>
          <a:bodyPr wrap="square" lIns="91440" tIns="91440" rIns="91440" bIns="91440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00D1C1"/>
                </a:solidFill>
                <a:latin typeface="+mj-lt"/>
              </a:rPr>
              <a:t>PATIENT
TRIAGE</a:t>
            </a:r>
          </a:p>
        </p:txBody>
      </p:sp>
      <p:sp>
        <p:nvSpPr>
          <p:cNvPr id="213" name="DescBox4"/>
          <p:cNvSpPr>
            <a:spLocks noGrp="1"/>
          </p:cNvSpPr>
          <p:nvPr/>
        </p:nvSpPr>
        <p:spPr>
          <a:xfrm>
            <a:off x="9556000" y="2438400"/>
            <a:ext cx="2040000" cy="3838600"/>
          </a:xfrm>
          <a:prstGeom prst="rect">
            <a:avLst/>
          </a:prstGeom>
          <a:solidFill>
            <a:srgbClr val="0A1F1F"/>
          </a:solidFill>
          <a:ln w="12700">
            <a:solidFill>
              <a:srgbClr val="1A4040"/>
            </a:solidFill>
          </a:ln>
        </p:spPr>
        <p:txBody>
          <a:bodyPr wrap="square" lIns="152400" tIns="152400" rIns="152400" bIns="152400" anchor="t" anchorCtr="0"/>
          <a:lstStyle/>
          <a:p>
            <a:pPr algn="l">
              <a:buNone/>
            </a:pPr>
            <a:r>
              <a:rPr lang="en-US" b="0" dirty="0">
                <a:solidFill>
                  <a:srgbClr val="C8F0ED"/>
                </a:solidFill>
                <a:latin typeface="+mn-lt"/>
              </a:rPr>
              <a:t>Clear verdict delivered: Home Care or See Doctor</a:t>
            </a:r>
            <a:r>
              <a:rPr lang="en-US" dirty="0">
                <a:solidFill>
                  <a:srgbClr val="C8F0ED"/>
                </a:solidFill>
              </a:rPr>
              <a:t>,</a:t>
            </a:r>
            <a:r>
              <a:rPr lang="en-US" b="0" dirty="0">
                <a:solidFill>
                  <a:srgbClr val="C8F0ED"/>
                </a:solidFill>
                <a:latin typeface="+mn-lt"/>
              </a:rPr>
              <a:t> with a matched specialist recommendation attached.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11EB61D-BB52-4DDA-3DE9-B60D2C7D95D1}"/>
              </a:ext>
            </a:extLst>
          </p:cNvPr>
          <p:cNvGrpSpPr/>
          <p:nvPr/>
        </p:nvGrpSpPr>
        <p:grpSpPr>
          <a:xfrm>
            <a:off x="531391" y="2310452"/>
            <a:ext cx="11129218" cy="2237095"/>
            <a:chOff x="531390" y="3174206"/>
            <a:chExt cx="11129218" cy="2237095"/>
          </a:xfrm>
        </p:grpSpPr>
        <p:sp>
          <p:nvSpPr>
            <p:cNvPr id="209" name="Google Shape;209;p20"/>
            <p:cNvSpPr/>
            <p:nvPr/>
          </p:nvSpPr>
          <p:spPr>
            <a:xfrm>
              <a:off x="581025" y="3829050"/>
              <a:ext cx="11029950" cy="1905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1497508" y="4000500"/>
              <a:ext cx="152400" cy="152400"/>
            </a:xfrm>
            <a:prstGeom prst="roundRect">
              <a:avLst>
                <a:gd name="adj" fmla="val 50000"/>
              </a:avLst>
            </a:prstGeom>
            <a:solidFill>
              <a:srgbClr val="00D1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531390" y="3174206"/>
              <a:ext cx="20846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>
                  <a:solidFill>
                    <a:srgbClr val="A5FFC9"/>
                  </a:solidFill>
                  <a:latin typeface="Urbanist" panose="020B0A04040200000203"/>
                  <a:ea typeface="Urbanist" panose="020B0A04040200000203"/>
                  <a:cs typeface="Urbanist" panose="020B0A04040200000203"/>
                  <a:sym typeface="Urbanist" panose="020B0A04040200000203"/>
                </a:rPr>
                <a:t>01. OPEN APP</a:t>
              </a:r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581025" y="4164806"/>
              <a:ext cx="1985367" cy="12464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 dirty="0">
                  <a:solidFill>
                    <a:srgbClr val="CBD5E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No registration required; works on 2G/low data.</a:t>
              </a:r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3758654" y="4000500"/>
              <a:ext cx="152400" cy="152400"/>
            </a:xfrm>
            <a:prstGeom prst="roundRect">
              <a:avLst>
                <a:gd name="adj" fmla="val 50000"/>
              </a:avLst>
            </a:prstGeom>
            <a:solidFill>
              <a:srgbClr val="00D1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4" name="Google Shape;214;p20"/>
            <p:cNvSpPr txBox="1"/>
            <p:nvPr/>
          </p:nvSpPr>
          <p:spPr>
            <a:xfrm>
              <a:off x="2792536" y="3174206"/>
              <a:ext cx="20846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>
                  <a:solidFill>
                    <a:srgbClr val="A5FFC9"/>
                  </a:solidFill>
                  <a:latin typeface="Urbanist" panose="020B0A04040200000203"/>
                  <a:ea typeface="Urbanist" panose="020B0A04040200000203"/>
                  <a:cs typeface="Urbanist" panose="020B0A04040200000203"/>
                  <a:sym typeface="Urbanist" panose="020B0A04040200000203"/>
                </a:rPr>
                <a:t>02. SYMPTOMS</a:t>
              </a:r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2842170" y="4164806"/>
              <a:ext cx="1985367" cy="12464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 dirty="0">
                  <a:solidFill>
                    <a:srgbClr val="CBD5E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Input up to 5 symptoms in plain language.</a:t>
              </a: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6019800" y="4000500"/>
              <a:ext cx="152400" cy="152400"/>
            </a:xfrm>
            <a:prstGeom prst="roundRect">
              <a:avLst>
                <a:gd name="adj" fmla="val 50000"/>
              </a:avLst>
            </a:prstGeom>
            <a:solidFill>
              <a:srgbClr val="00D1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5053682" y="3174206"/>
              <a:ext cx="20846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>
                  <a:solidFill>
                    <a:srgbClr val="A5FFC9"/>
                  </a:solidFill>
                  <a:latin typeface="Urbanist" panose="020B0A04040200000203"/>
                  <a:ea typeface="Urbanist" panose="020B0A04040200000203"/>
                  <a:cs typeface="Urbanist" panose="020B0A04040200000203"/>
                  <a:sym typeface="Urbanist" panose="020B0A04040200000203"/>
                </a:rPr>
                <a:t>03. ANALYSIS</a:t>
              </a:r>
            </a:p>
          </p:txBody>
        </p:sp>
        <p:sp>
          <p:nvSpPr>
            <p:cNvPr id="218" name="Google Shape;218;p20"/>
            <p:cNvSpPr txBox="1"/>
            <p:nvPr/>
          </p:nvSpPr>
          <p:spPr>
            <a:xfrm>
              <a:off x="5103316" y="4164806"/>
              <a:ext cx="1985367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>
                  <a:solidFill>
                    <a:srgbClr val="CBD5E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Naive Bayes analysis in under 1 second.</a:t>
              </a: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8280945" y="4000500"/>
              <a:ext cx="152400" cy="152400"/>
            </a:xfrm>
            <a:prstGeom prst="roundRect">
              <a:avLst>
                <a:gd name="adj" fmla="val 50000"/>
              </a:avLst>
            </a:prstGeom>
            <a:solidFill>
              <a:srgbClr val="00D1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7314827" y="3174206"/>
              <a:ext cx="20846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>
                  <a:solidFill>
                    <a:srgbClr val="A5FFC9"/>
                  </a:solidFill>
                  <a:latin typeface="Urbanist" panose="020B0A04040200000203"/>
                  <a:ea typeface="Urbanist" panose="020B0A04040200000203"/>
                  <a:cs typeface="Urbanist" panose="020B0A04040200000203"/>
                  <a:sym typeface="Urbanist" panose="020B0A04040200000203"/>
                </a:rPr>
                <a:t>04. TRIAGE</a:t>
              </a:r>
            </a:p>
          </p:txBody>
        </p:sp>
        <p:sp>
          <p:nvSpPr>
            <p:cNvPr id="221" name="Google Shape;221;p20"/>
            <p:cNvSpPr txBox="1"/>
            <p:nvPr/>
          </p:nvSpPr>
          <p:spPr>
            <a:xfrm>
              <a:off x="7364462" y="4164806"/>
              <a:ext cx="1985367" cy="12464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>
                  <a:solidFill>
                    <a:srgbClr val="CBD5E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Clear action: See Doctor vs Home Care.</a:t>
              </a:r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10542091" y="4000500"/>
              <a:ext cx="152400" cy="152400"/>
            </a:xfrm>
            <a:prstGeom prst="roundRect">
              <a:avLst>
                <a:gd name="adj" fmla="val 50000"/>
              </a:avLst>
            </a:prstGeom>
            <a:solidFill>
              <a:srgbClr val="00D1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9575973" y="3174206"/>
              <a:ext cx="20846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>
                  <a:solidFill>
                    <a:srgbClr val="A5FFC9"/>
                  </a:solidFill>
                  <a:latin typeface="Urbanist" panose="020B0A04040200000203"/>
                  <a:ea typeface="Urbanist" panose="020B0A04040200000203"/>
                  <a:cs typeface="Urbanist" panose="020B0A04040200000203"/>
                  <a:sym typeface="Urbanist" panose="020B0A04040200000203"/>
                </a:rPr>
                <a:t>05. FIND DOCTOR</a:t>
              </a:r>
            </a:p>
          </p:txBody>
        </p:sp>
        <p:sp>
          <p:nvSpPr>
            <p:cNvPr id="224" name="Google Shape;224;p20"/>
            <p:cNvSpPr txBox="1"/>
            <p:nvPr/>
          </p:nvSpPr>
          <p:spPr>
            <a:xfrm>
              <a:off x="9625607" y="4164806"/>
              <a:ext cx="1985367" cy="12464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>
                  <a:solidFill>
                    <a:srgbClr val="CBD5E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Nearest specialist matched to condition.</a:t>
              </a:r>
            </a:p>
          </p:txBody>
        </p:sp>
      </p:grpSp>
      <p:sp>
        <p:nvSpPr>
          <p:cNvPr id="225" name="Google Shape;225;p20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D1C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USER JOURNEY: UNDER 60 SECONDS</a:t>
            </a:r>
          </a:p>
        </p:txBody>
      </p:sp>
      <p:sp>
        <p:nvSpPr>
          <p:cNvPr id="226" name="Google Shape;226;p20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A5FF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12B2A6C-134B-C80B-E80B-863089E4492B}"/>
              </a:ext>
            </a:extLst>
          </p:cNvPr>
          <p:cNvGrpSpPr/>
          <p:nvPr/>
        </p:nvGrpSpPr>
        <p:grpSpPr>
          <a:xfrm>
            <a:off x="5335784" y="1692473"/>
            <a:ext cx="6612192" cy="3997377"/>
            <a:chOff x="5335784" y="1692473"/>
            <a:chExt cx="6612192" cy="3997377"/>
          </a:xfrm>
        </p:grpSpPr>
        <p:sp>
          <p:nvSpPr>
            <p:cNvPr id="258" name="Google Shape;258;p23"/>
            <p:cNvSpPr txBox="1"/>
            <p:nvPr/>
          </p:nvSpPr>
          <p:spPr>
            <a:xfrm>
              <a:off x="5359028" y="1692473"/>
              <a:ext cx="65889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>
                  <a:solidFill>
                    <a:srgbClr val="00E5FF"/>
                  </a:solidFill>
                  <a:latin typeface="Urbanist" panose="020B0A04040200000203"/>
                  <a:ea typeface="Urbanist" panose="020B0A04040200000203"/>
                  <a:cs typeface="Urbanist" panose="020B0A04040200000203"/>
                  <a:sym typeface="Urbanist" panose="020B0A04040200000203"/>
                </a:rPr>
                <a:t>40% VISIT REDUCTION</a:t>
              </a:r>
            </a:p>
          </p:txBody>
        </p:sp>
        <p:sp>
          <p:nvSpPr>
            <p:cNvPr id="259" name="Google Shape;259;p23"/>
            <p:cNvSpPr txBox="1"/>
            <p:nvPr/>
          </p:nvSpPr>
          <p:spPr>
            <a:xfrm>
              <a:off x="5335784" y="1932810"/>
              <a:ext cx="6275189" cy="12464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0" i="0" u="none" strike="noStrike" cap="none" dirty="0">
                  <a:solidFill>
                    <a:srgbClr val="CBD5E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Lowering the burden on public healthcare systems by filtering non-serious conditions for home care. (Based on primary survey data. Target outcome for Phase 2 validation.)</a:t>
              </a:r>
            </a:p>
          </p:txBody>
        </p:sp>
        <p:sp>
          <p:nvSpPr>
            <p:cNvPr id="260" name="Google Shape;260;p23"/>
            <p:cNvSpPr txBox="1"/>
            <p:nvPr/>
          </p:nvSpPr>
          <p:spPr>
            <a:xfrm>
              <a:off x="5335784" y="3374706"/>
              <a:ext cx="65889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>
                  <a:solidFill>
                    <a:srgbClr val="00FF87"/>
                  </a:solidFill>
                  <a:latin typeface="Urbanist" panose="020B0A04040200000203"/>
                  <a:ea typeface="Urbanist" panose="020B0A04040200000203"/>
                  <a:cs typeface="Urbanist" panose="020B0A04040200000203"/>
                  <a:sym typeface="Urbanist" panose="020B0A04040200000203"/>
                </a:rPr>
                <a:t>₹2,000–₹5,000 ANNUAL SAVINGS</a:t>
              </a:r>
            </a:p>
          </p:txBody>
        </p:sp>
        <p:sp>
          <p:nvSpPr>
            <p:cNvPr id="261" name="Google Shape;261;p23"/>
            <p:cNvSpPr txBox="1"/>
            <p:nvPr/>
          </p:nvSpPr>
          <p:spPr>
            <a:xfrm>
              <a:off x="5359028" y="3580566"/>
              <a:ext cx="627518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 dirty="0">
                  <a:solidFill>
                    <a:srgbClr val="CBD5E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Redirecting household income from unnecessary consultation fees to nutrition and education.</a:t>
              </a:r>
            </a:p>
          </p:txBody>
        </p:sp>
        <p:sp>
          <p:nvSpPr>
            <p:cNvPr id="262" name="Google Shape;262;p23"/>
            <p:cNvSpPr txBox="1"/>
            <p:nvPr/>
          </p:nvSpPr>
          <p:spPr>
            <a:xfrm>
              <a:off x="5359028" y="4617423"/>
              <a:ext cx="65889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>
                  <a:solidFill>
                    <a:srgbClr val="FFD600"/>
                  </a:solidFill>
                  <a:latin typeface="Urbanist" panose="020B0A04040200000203"/>
                  <a:ea typeface="Urbanist" panose="020B0A04040200000203"/>
                  <a:cs typeface="Urbanist" panose="020B0A04040200000203"/>
                  <a:sym typeface="Urbanist" panose="020B0A04040200000203"/>
                </a:rPr>
                <a:t>OUTBREAK SURVEILLANCE</a:t>
              </a:r>
            </a:p>
          </p:txBody>
        </p:sp>
        <p:sp>
          <p:nvSpPr>
            <p:cNvPr id="263" name="Google Shape;263;p23"/>
            <p:cNvSpPr txBox="1"/>
            <p:nvPr/>
          </p:nvSpPr>
          <p:spPr>
            <a:xfrm>
              <a:off x="5382272" y="4858853"/>
              <a:ext cx="627518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0" i="0" u="none" strike="noStrike" cap="none" dirty="0">
                  <a:solidFill>
                    <a:srgbClr val="CBD5E1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Early warning signals for local health authorities to prevent epidemic-level transmission.</a:t>
              </a:r>
            </a:p>
          </p:txBody>
        </p:sp>
      </p:grpSp>
      <p:sp>
        <p:nvSpPr>
          <p:cNvPr id="264" name="Google Shape;264;p23"/>
          <p:cNvSpPr/>
          <p:nvPr/>
        </p:nvSpPr>
        <p:spPr>
          <a:xfrm>
            <a:off x="1629667" y="5291137"/>
            <a:ext cx="142875" cy="142875"/>
          </a:xfrm>
          <a:prstGeom prst="rect">
            <a:avLst/>
          </a:prstGeom>
          <a:solidFill>
            <a:srgbClr val="00D1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2810767" y="5291137"/>
            <a:ext cx="142875" cy="142875"/>
          </a:xfrm>
          <a:prstGeom prst="rect">
            <a:avLst/>
          </a:prstGeom>
          <a:solidFill>
            <a:srgbClr val="A5FF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771525" y="58102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0D1C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MULTI-DIMENSIONAL SOCIAL IMPACT</a:t>
            </a:r>
          </a:p>
        </p:txBody>
      </p:sp>
      <p:sp>
        <p:nvSpPr>
          <p:cNvPr id="267" name="Google Shape;267;p23"/>
          <p:cNvSpPr/>
          <p:nvPr/>
        </p:nvSpPr>
        <p:spPr>
          <a:xfrm>
            <a:off x="581025" y="581025"/>
            <a:ext cx="38100" cy="438150"/>
          </a:xfrm>
          <a:prstGeom prst="rect">
            <a:avLst/>
          </a:prstGeom>
          <a:solidFill>
            <a:srgbClr val="A5FF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6AE7F0-187C-621D-5A29-D02C7276D75A}"/>
              </a:ext>
            </a:extLst>
          </p:cNvPr>
          <p:cNvSpPr/>
          <p:nvPr/>
        </p:nvSpPr>
        <p:spPr>
          <a:xfrm>
            <a:off x="1046480" y="4958080"/>
            <a:ext cx="3190240" cy="110744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6E43792-187A-C34D-F5AA-5B481176EF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4635636"/>
              </p:ext>
            </p:extLst>
          </p:nvPr>
        </p:nvGraphicFramePr>
        <p:xfrm>
          <a:off x="58806" y="1785591"/>
          <a:ext cx="5503922" cy="3669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34500" y="-9525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-952500" y="40005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705372" y="4610100"/>
            <a:ext cx="12573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95275" y="1761024"/>
            <a:ext cx="11601450" cy="1938992"/>
          </a:xfrm>
          <a:prstGeom prst="rect">
            <a:avLst/>
          </a:prstGeom>
          <a:noFill/>
          <a:ln>
            <a:noFill/>
          </a:ln>
          <a:effectLst>
            <a:glow rad="1143000">
              <a:srgbClr val="A5FFC9">
                <a:alpha val="40000"/>
              </a:srgbClr>
            </a:glo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2600" b="0" i="0" u="none" strike="noStrike" kern="0" cap="none" spc="0" normalizeH="0" baseline="0" noProof="0" dirty="0">
                <a:ln>
                  <a:noFill/>
                </a:ln>
                <a:solidFill>
                  <a:srgbClr val="00E5FF"/>
                </a:solidFill>
                <a:effectLst>
                  <a:glow rad="177800">
                    <a:schemeClr val="accent1">
                      <a:satMod val="175000"/>
                      <a:alpha val="35000"/>
                    </a:schemeClr>
                  </a:glow>
                </a:effectLst>
                <a:uLnTx/>
                <a:uFillTx/>
                <a:latin typeface="Urbanist ExtraBold" panose="020B0A04040200000203"/>
                <a:ea typeface="Urbanist ExtraBold" panose="020B0A04040200000203"/>
                <a:cs typeface="Urbanist ExtraBold" panose="020B0A04040200000203"/>
                <a:sym typeface="Urbanist ExtraBold" panose="020B0A04040200000203"/>
              </a:rPr>
              <a:t>THANK YOU</a:t>
            </a: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3679307"/>
            <a:ext cx="11049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We appreciate your time and review.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857250" y="53816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E5FF"/>
                </a:solidFill>
                <a:effectLst/>
                <a:uLnTx/>
                <a:uFillTx/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AAROGYA AI TEAM</a:t>
            </a:r>
          </a:p>
        </p:txBody>
      </p:sp>
      <p:sp>
        <p:nvSpPr>
          <p:cNvPr id="91" name="Google Shape;91;p13"/>
          <p:cNvSpPr txBox="1"/>
          <p:nvPr/>
        </p:nvSpPr>
        <p:spPr>
          <a:xfrm>
            <a:off x="857250" y="5753100"/>
            <a:ext cx="4457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sz="1500" kern="0" dirty="0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Rishit Kumar Gautam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rgbClr val="CBD5E1"/>
              </a:solidFill>
              <a:effectLst/>
              <a:uLnTx/>
              <a:uFillTx/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857250" y="6019800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IIT Mandi • </a:t>
            </a:r>
            <a:r>
              <a:rPr kumimoji="0" lang="en-US" sz="1500" b="0" i="0" u="none" strike="noStrike" kern="0" cap="none" spc="0" normalizeH="0" baseline="0" noProof="0" dirty="0" err="1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Xpecto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'26 Submission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9063940" y="4354571"/>
            <a:ext cx="2540161" cy="211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Scan to view our GitHub Repository</a:t>
            </a:r>
          </a:p>
        </p:txBody>
      </p:sp>
      <p:sp>
        <p:nvSpPr>
          <p:cNvPr id="94" name="Google Shape;94;p13"/>
          <p:cNvSpPr txBox="1"/>
          <p:nvPr/>
        </p:nvSpPr>
        <p:spPr>
          <a:xfrm>
            <a:off x="8033656" y="6100325"/>
            <a:ext cx="398222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buClr>
                <a:srgbClr val="000000"/>
              </a:buClr>
            </a:pPr>
            <a:r>
              <a: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00E5FF"/>
                </a:solidFill>
                <a:effectLst/>
                <a:uLnTx/>
                <a:uFillTx/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https://github.com/rishitgautam8-commits/aarogya-ai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D46E2-BB58-1A74-2B3C-4278049590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719" y="4645196"/>
            <a:ext cx="1374604" cy="13746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2234</TotalTime>
  <Words>589</Words>
  <Application>Microsoft Office PowerPoint</Application>
  <PresentationFormat>Widescreen</PresentationFormat>
  <Paragraphs>81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Inter</vt:lpstr>
      <vt:lpstr>Inter SemiBold</vt:lpstr>
      <vt:lpstr>Urbanist</vt:lpstr>
      <vt:lpstr>Urbanist ExtraBold</vt:lpstr>
      <vt:lpstr>Urbanist SemiBold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Rishit Gautam</dc:creator>
  <cp:lastModifiedBy>Rishit Gautam</cp:lastModifiedBy>
  <cp:revision>11</cp:revision>
  <dcterms:created xsi:type="dcterms:W3CDTF">2026-05-01T15:00:42Z</dcterms:created>
  <dcterms:modified xsi:type="dcterms:W3CDTF">2026-05-03T10:54:05Z</dcterms:modified>
</cp:coreProperties>
</file>